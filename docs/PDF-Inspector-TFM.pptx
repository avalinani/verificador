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TFM. El servicio recibe un PDF y devuelve un informe estructurado. La demo está desplegada en la URL del pie, con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visores de PDF muestran un icono de firma, pero no explican por qué es válida o no. Este servicio responde a las cuatro preguntas con un informe técnico y un veredicto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en una sola llamada POST /api/v1/pdf/analyze. El servicio es sin estado y no tiene base de datos: el documento no se guarda.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hexagonal: las dependencias apuntan hacia el dominio. Los adaptadores de infraestructura implementan los puertos. Una regla de ArchUnit falla la compilación si alguien rompe esa dirección.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color va acompañado siempre del texto: intacto, modificado, manipulado. Un ByteRange incoherente se trata como firma inválida sin lanzar excepción.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valores son VALID, NOT_ADMITTED e INVALID. Los calcula una política de dominio pura, sin librerías, con una tabla de decisión. En la interfaz se muestran con verde, ámbar y rojo, siempre con el texto del motivo. También hay un veredicto a nivel de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la demo en vivo: subir un PDF firmado y enseñar el veredicto. AutoFirma es un componente de terceros incluido sin modificar.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reales de la aplicación. Los PDF y los certificados son de demostración (firmante «Ana García (demo)», CA raíz de demostración cargada como ancla de confianza solo para esta prueba); no hay datos reales. A la izquierda, el documento recién firmado; a la derecha, el mismo documento con una actualización incremental añadida después de firmar: la firma sigue siendo matemáticamente correcta para su revisión, pero el veredicto es inválido porque ninguna firma cubre el contenido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real de la pantalla Firmar con un PDF de demostración seleccionado. El servidor no recibe el PDF sin firmar: AutoFirma hace la operación criptográfica en el equipo del usuario, y el PDF firmado solo se envía si se pulsa «Validar este PDF».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Licencia GPL v3, compatible con PDFBox (Apache-2.0) y Bouncy Castle (MIT). El build usa el wrapper de Maven incluido.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de carga en CI falla si el contenedor se reinicia, lo mata el OOM o aparece un OutOfMemoryError en los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se salta el cortafuegos ufw al publicar puertos, por eso el puerto 8963 se publica solo en 127.0.0.1 en el compose, y Caddy llega a él por la red del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Medición en el VPS de OVHcloud con un PDF sintético de 83 MB, lanzando las peticiones desde el propio servidor. Con max-concurrent 1 y 5 segundos de espera: 2 respuestas 200 y 3 respuestas 503, con un máximo de 753 MiB. Con max-concurrent 2 y 30 segundos: 5 respuestas 200, con un máximo de 1013 MiB. Además el usuario subió 4 PDFs reales, uno de 50 MB, sin fallos y con un pico de 871 MiB.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carga automática de las listas de confianza (TSL) queda como trabajo futuro. Los subfiltros no soportados se informan como UNSUPPORTED en vez de fallar.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turno de preguntas. La demo está en línea: subir un PDF firmado y un PDF grande para enseñar el veredicto y el tiempo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9523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00" kern="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TRABAJO FIN DE MÁSTER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115939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PDF Inspector &amp; Signature Verifier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70139"/>
            <a:ext cx="9156700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Auditoría técnica y forense de documentos PDF: firmas, sellos de tiempo, cadena de confianza y conformidad PDF/A en una sola llamada.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02759"/>
            <a:ext cx="287434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EA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https://vps-651608c6.vps.ovh.net/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 PDF firmado plantea cuatro preguntas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4856"/>
            <a:ext cx="2482850" cy="22923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82031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¿Está intacto?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688431"/>
            <a:ext cx="2027555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firma es válida y nadie ha tocado los bytes firmados ni añadido cambios después.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8375" y="2024856"/>
            <a:ext cx="2482850" cy="22923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5550" y="2282031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¿Quién firmó?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65550" y="2688431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del certificado del firmante y de su cadena de emisores.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0775" y="2024856"/>
            <a:ext cx="2482850" cy="22923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950" y="2282031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¿Es de confianza?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57950" y="2993231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cadena llega a una raíz de confianza y el certificado no está revocado.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93175" y="2024856"/>
            <a:ext cx="2482850" cy="22923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0350" y="2282031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¿Cumple el formato?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50350" y="2993231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Conformidad PDF/A-1b, estructura, cifrado y permisos del documento.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INFORMA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 informe JSON, sin guardar el documento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80431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2350" y="2502991"/>
            <a:ext cx="30740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 CMS/PAdES, cobertura de </a:t>
            </a: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/ByteRange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cambios posteriores.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1974056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3750" y="2180431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Sellos de tiempo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03750" y="2502991"/>
            <a:ext cx="307403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RFC 3161: imprint y firma de la TSA.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1974056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5150" y="2180431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Cadena X.509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5150" y="2502991"/>
            <a:ext cx="30740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Validación PKIX contra un almacén de confianza configurable.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373537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350" y="3579912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Revocación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2350" y="3902472"/>
            <a:ext cx="30740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OCSP y CRL, opcional y con tiempo máximo de 2 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97375" y="3373537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3750" y="3579912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PDF/A-1b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3750" y="3902472"/>
            <a:ext cx="30740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Validación formal con el módulo </a:t>
            </a:r>
            <a:r>
              <a:rPr lang="en-US" sz="140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preflight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PDFBox.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8775" y="3373537"/>
            <a:ext cx="3397250" cy="1215330"/>
          </a:xfrm>
          <a:prstGeom prst="roundRect">
            <a:avLst>
              <a:gd name="adj" fmla="val 8099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5150" y="3579912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Propiedades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85150" y="3902472"/>
            <a:ext cx="30740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Versión, páginas, rotación, dimensiones, cifrado y permisos.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6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Hexagonal, y comprobada por tests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2139950" cy="1774031"/>
          </a:xfrm>
          <a:prstGeom prst="roundRect">
            <a:avLst>
              <a:gd name="adj" fmla="val 5548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05831"/>
            <a:ext cx="17272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556272"/>
            <a:ext cx="1727200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Controlador REST, errores RFC 9457 y límite de análisis simultáneos.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11500" y="2612132"/>
            <a:ext cx="406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22675" y="1974056"/>
            <a:ext cx="2139950" cy="1774031"/>
          </a:xfrm>
          <a:prstGeom prst="roundRect">
            <a:avLst>
              <a:gd name="adj" fmla="val 5548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4450" y="2205831"/>
            <a:ext cx="17272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54450" y="2556272"/>
            <a:ext cx="1727200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de uso </a:t>
            </a:r>
            <a:r>
              <a:rPr lang="en-US" sz="1400" b="1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AnalyzePdfUseCase</a:t>
            </a: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orquesta y aísla los fallos por sección.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18200" y="2612132"/>
            <a:ext cx="406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29375" y="1974056"/>
            <a:ext cx="2139950" cy="1774031"/>
          </a:xfrm>
          <a:prstGeom prst="roundRect">
            <a:avLst>
              <a:gd name="adj" fmla="val 5548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1150" y="2205831"/>
            <a:ext cx="17272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61150" y="2556272"/>
            <a:ext cx="172720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y puertos, sin dependencias de librerías.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24900" y="2612132"/>
            <a:ext cx="406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←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236075" y="1974056"/>
            <a:ext cx="2139950" cy="1774031"/>
          </a:xfrm>
          <a:prstGeom prst="roundRect">
            <a:avLst>
              <a:gd name="adj" fmla="val 5548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7850" y="2205831"/>
            <a:ext cx="17272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7850" y="2556272"/>
            <a:ext cx="1727200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Adaptadores: PDFBox, </a:t>
            </a:r>
            <a:r>
              <a:rPr lang="en-US" sz="1400" i="1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preflight</a:t>
            </a: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Bouncy Castle, OCSP/CRL.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056063"/>
            <a:ext cx="98107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dominio no importa PDFBox ni Bouncy Castle: </a:t>
            </a:r>
            <a:r>
              <a:rPr lang="en-US" sz="1700" b="1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ArchUnit lo verifica en cada compilación</a:t>
            </a:r>
            <a:r>
              <a:rPr lang="en-US" sz="17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Distingue tres situaciones tras firmar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3380284" cy="1987550"/>
          </a:xfrm>
          <a:prstGeom prst="roundRect">
            <a:avLst>
              <a:gd name="adj" fmla="val 4952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3123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Intacto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6376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firma cubre todo el documento y coincide con su resumen criptográfico.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974056"/>
            <a:ext cx="3380383" cy="1987550"/>
          </a:xfrm>
          <a:prstGeom prst="roundRect">
            <a:avLst>
              <a:gd name="adj" fmla="val 4952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231231"/>
            <a:ext cx="29520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Modificado después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637631"/>
            <a:ext cx="295201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Hay una actualización incremental posterior: la firma original sigue siendo válida, pero el documento cambió.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41" y="1974056"/>
            <a:ext cx="3380284" cy="1987550"/>
          </a:xfrm>
          <a:prstGeom prst="roundRect">
            <a:avLst>
              <a:gd name="adj" fmla="val 4952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916" y="223123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Manipulado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916" y="26376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bytes firmados no coinciden con la firma, o el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/ByteRange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 hostil o inconsistente.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269581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varias firmas, cada una se evalúa por separado. La integridad de la firma es independiente de la validez del certificado.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VEREDICTO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Una conclusión por firma, con sus motivos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4260850" cy="2807593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256631"/>
            <a:ext cx="380657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combinan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8550" y="2657872"/>
            <a:ext cx="38065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Integridad de la firma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8550" y="3104852"/>
            <a:ext cx="38065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Cadena de confianza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8550" y="3551833"/>
            <a:ext cx="38065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Revocación (si se solicita)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83200" y="3093343"/>
            <a:ext cx="4572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892800" y="1970881"/>
            <a:ext cx="5486400" cy="2813943"/>
          </a:xfrm>
          <a:prstGeom prst="roundRect">
            <a:avLst>
              <a:gd name="adj" fmla="val 3611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250281"/>
            <a:ext cx="507542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obtiene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651522"/>
            <a:ext cx="507542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Válida</a:t>
            </a:r>
            <a:r>
              <a:rPr lang="en-US" sz="18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integridad y confianza correctas.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3098502"/>
            <a:ext cx="507542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admitida</a:t>
            </a:r>
            <a:r>
              <a:rPr lang="en-US" sz="18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no se puede dar por buena, con su motivo.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72200" y="3865463"/>
            <a:ext cx="507542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válida</a:t>
            </a:r>
            <a:r>
              <a:rPr lang="en-US" sz="18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firma inválida o documento modificado.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INTERFAZ WEB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Dos pantallas, sin frameworks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5175250" cy="2266851"/>
          </a:xfrm>
          <a:prstGeom prst="roundRect">
            <a:avLst>
              <a:gd name="adj" fmla="val 4342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256631"/>
            <a:ext cx="47484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8550" y="2706191"/>
            <a:ext cx="47484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Arrastra un PDF de hasta 80 MB y obtén el informe con el veredicto por firma.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8550" y="3389412"/>
            <a:ext cx="47484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Casilla opcional para comprobar la revocación (OCSP/CRL).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75" y="1974056"/>
            <a:ext cx="5175250" cy="2266851"/>
          </a:xfrm>
          <a:prstGeom prst="roundRect">
            <a:avLst>
              <a:gd name="adj" fmla="val 4342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350" y="2256631"/>
            <a:ext cx="47484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83350" y="2706191"/>
            <a:ext cx="47484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 PAdES con AutoFirma en el equipo del usuario.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3350" y="3389412"/>
            <a:ext cx="47484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clave privada nunca sale de su equipo</a:t>
            </a: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y el resultado se valida con un clic.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548882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HTML, CSS y JavaScript nativo. Tema claro y oscuro, cabecera CSP y sin CDNs.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VALIDAR, EN LA APLICACIÓN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mismo contrato, antes y después de tocarlo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881"/>
            <a:ext cx="5181600" cy="3175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pic>
        <p:nvPicPr>
          <p:cNvPr id="5" name="Image 0" descr="Resultado de Validar: banner verde «Firma válida», tarjeta de la firma de Ana García (demo) con sello de tiempo, integridad íntegra, cadena de confianza y la cadena de certificados despleg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475" y="1977231"/>
            <a:ext cx="3278251" cy="3162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974056"/>
            <a:ext cx="51752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DAD8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247481"/>
            <a:ext cx="533704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 válida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íntegra, con sello de tiempo y cadena de confianza.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7600" y="1970881"/>
            <a:ext cx="5181600" cy="3175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pic>
        <p:nvPicPr>
          <p:cNvPr id="9" name="Image 1" descr="Resultado de Validar: banner rojo «Firma inválida», el documento se modificó después de la última firma; integridad «Modificado tras la firma» y 3 revis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039" y="1977231"/>
            <a:ext cx="5000722" cy="3162300"/>
          </a:xfrm>
          <a:custGeom>
            <a:avLst/>
            <a:gdLst/>
            <a:ahLst/>
            <a:cxnLst/>
            <a:rect l="l" t="t" r="r" b="b"/>
            <a:pathLst>
              <a:path w="5000722" h="3162300">
                <a:moveTo>
                  <a:pt x="0" y="656"/>
                </a:moveTo>
                <a:arcTo wR="95250" hR="95250" stAng="15796254" swAng="403746"/>
                <a:lnTo>
                  <a:pt x="4989561" y="0"/>
                </a:lnTo>
                <a:arcTo wR="95250" hR="95250" stAng="16200000" swAng="403746"/>
                <a:lnTo>
                  <a:pt x="5000722" y="3161644"/>
                </a:lnTo>
                <a:arcTo wR="95250" hR="95250" stAng="4996254" swAng="403746"/>
                <a:lnTo>
                  <a:pt x="11161" y="3162300"/>
                </a:lnTo>
                <a:arcTo wR="95250" hR="95250" stAng="5400000" swAng="403746"/>
                <a:close/>
              </a:path>
            </a:pathLst>
          </a:custGeom>
        </p:spPr>
      </p:pic>
      <p:sp>
        <p:nvSpPr>
          <p:cNvPr id="10" name="Shape 6"/>
          <p:cNvSpPr/>
          <p:nvPr/>
        </p:nvSpPr>
        <p:spPr>
          <a:xfrm>
            <a:off x="6200775" y="1974056"/>
            <a:ext cx="51752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DAD8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7600" y="5247481"/>
            <a:ext cx="533704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 inválida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una actualización posterior cambió el documento.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FIRMAR, EN LA APLICACIÓN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Firma con AutoFirma sin salir del navegador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881"/>
            <a:ext cx="6223000" cy="3790950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/>
        </p:spPr>
      </p:sp>
      <p:pic>
        <p:nvPicPr>
          <p:cNvPr id="5" name="Image 0" descr="Pantalla Firmar: aviso de que la clave privada nunca sale del equipo, zona para soltar el PDF (hasta 80 MB), fichero seleccionado y campo opcional «Motivo de la firma»">    </p:cNvPr>
          <p:cNvPicPr>
            <a:picLocks noChangeAspect="1"/>
          </p:cNvPicPr>
          <p:nvPr/>
        </p:nvPicPr>
        <p:blipFill>
          <a:blip r:embed="rId1"/>
          <a:srcRect l="-81" r="-81" t="0" b="0"/>
          <a:stretch/>
        </p:blipFill>
        <p:spPr>
          <a:xfrm>
            <a:off x="819150" y="1977231"/>
            <a:ext cx="6210300" cy="3778250"/>
          </a:xfrm>
          <a:prstGeom prst="roundRect">
            <a:avLst>
              <a:gd name="adj" fmla="val 252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74056"/>
            <a:ext cx="6216650" cy="3784600"/>
          </a:xfrm>
          <a:prstGeom prst="roundRect">
            <a:avLst>
              <a:gd name="adj" fmla="val 2601"/>
            </a:avLst>
          </a:prstGeom>
          <a:noFill/>
          <a:ln w="6350">
            <a:solidFill>
              <a:srgbClr val="DAD8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40600" y="1970881"/>
            <a:ext cx="415975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Se elige el PDF y, si se quiere, el motivo de la firma.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40600" y="2717602"/>
            <a:ext cx="415975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AutoFirma abre su selector de certificado y firma en el equipo.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40600" y="3464322"/>
            <a:ext cx="415975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Se descarga el PDF firmado o se valida con un clic.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25 y librerías estándar del ecosistema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83581"/>
          <a:ext cx="10553700" cy="3074690"/>
        </p:xfrm>
        <a:graphic>
          <a:graphicData uri="http://schemas.openxmlformats.org/drawingml/2006/table">
            <a:tbl>
              <a:tblPr/>
              <a:tblGrid>
                <a:gridCol w="3166110"/>
                <a:gridCol w="4749165"/>
                <a:gridCol w="263842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Tecnología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Versión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Lenguaje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 (LTS)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Framework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Boot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4.1.1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Motor PDF y PDF/A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Apache PDFBox y preflight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3.0.8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Criptografía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Bouncy Castle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1.86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springdoc (Swagger UI)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3.1.1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JUnit 5, AssertJ, Mockito, ArchUnit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ArchUnit 1.5.1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6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Cada cambio pasa por la integración continua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3621584" cy="2591891"/>
          </a:xfrm>
          <a:prstGeom prst="roundRect">
            <a:avLst>
              <a:gd name="adj" fmla="val 3797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31231"/>
            <a:ext cx="320045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73150" y="3044031"/>
            <a:ext cx="3200451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automáticos, incluidos los de arquitectura con ArchUnit.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47109" y="1974056"/>
            <a:ext cx="6728916" cy="2591891"/>
          </a:xfrm>
          <a:prstGeom prst="roundRect">
            <a:avLst>
              <a:gd name="adj" fmla="val 3797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04284" y="2231231"/>
            <a:ext cx="640100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Actions en cada </a:t>
            </a:r>
            <a:r>
              <a:rPr lang="en-US" sz="1800" b="1" i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04284" y="2632472"/>
            <a:ext cx="64010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Compila y ejecuta todos los tests (</a:t>
            </a:r>
            <a:r>
              <a:rPr lang="en-US" sz="1600" b="1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./mvnw verify</a:t>
            </a: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04284" y="3043932"/>
            <a:ext cx="64010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Construye la imagen Docker y la arranca con los límites de producción.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4284" y="3739852"/>
            <a:ext cx="64010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Prueba de carga: 5 subidas simultáneas de ~79 MB, sin reinicios ni fallos por memoria.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Alojado en VPS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3380284" cy="2607270"/>
          </a:xfrm>
          <a:prstGeom prst="roundRect">
            <a:avLst>
              <a:gd name="adj" fmla="val 3775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3123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Contenedor endurecido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3150" y="2622352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Imagen multi-etapa, usuario no root, sistema de ficheros de solo lectura, sin capacidades extra.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524052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 de 2 GB y perfil de JVM con cada región de memoria acotada.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809" y="1974056"/>
            <a:ext cx="3380383" cy="2607270"/>
          </a:xfrm>
          <a:prstGeom prst="roundRect">
            <a:avLst>
              <a:gd name="adj" fmla="val 3775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231231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2984" y="2622352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OVHcloud VPS-1: 2 vCore, 4 GB, Ubuntu 24.04.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2984" y="3257352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solo con clave y cortafuegos con los puertos 22, 80 y 443.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5741" y="1974056"/>
            <a:ext cx="3380284" cy="2607270"/>
          </a:xfrm>
          <a:prstGeom prst="roundRect">
            <a:avLst>
              <a:gd name="adj" fmla="val 3775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23123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52916" y="2622352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Caddy con certificado de Let's Encrypt renovado automáticamente y cabecera HSTS.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2916" y="3790752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aplicación solo escucha en el bucle local.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MEDIDAS REALES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6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PDFs de hasta 80 MB, medidos en el servidor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3380284" cy="1812131"/>
          </a:xfrm>
          <a:prstGeom prst="roundRect">
            <a:avLst>
              <a:gd name="adj" fmla="val 5431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31231"/>
            <a:ext cx="295191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de 5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1073150" y="2980531"/>
            <a:ext cx="295191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subidas simultáneas de 83 MB respondidas con éxito.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809" y="1974056"/>
            <a:ext cx="3380383" cy="1812131"/>
          </a:xfrm>
          <a:prstGeom prst="roundRect">
            <a:avLst>
              <a:gd name="adj" fmla="val 5431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231231"/>
            <a:ext cx="295201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1013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4662984" y="2980531"/>
            <a:ext cx="295201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MiB de memoria máxima, sobre un límite de 2048.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741" y="1974056"/>
            <a:ext cx="3380284" cy="1812131"/>
          </a:xfrm>
          <a:prstGeom prst="roundRect">
            <a:avLst>
              <a:gd name="adj" fmla="val 5431"/>
            </a:avLst>
          </a:prstGeom>
          <a:solidFill>
            <a:srgbClr val="1E2F55"/>
          </a:solidFill>
          <a:ln w="6350">
            <a:solidFill>
              <a:srgbClr val="3A4C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916" y="2231231"/>
            <a:ext cx="295191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8252916" y="2980531"/>
            <a:ext cx="295191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reinicios, cortes por memoria y errores de memoria en la JVM.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094163"/>
            <a:ext cx="10464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límite de dos análisis a la vez acota el consumo. Con un solo hueco y 5 s de espera, 3 de las 5 peticiones recibían un 503; con dos huecos y 30 s, ninguna.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ALCANCE Y LÍMITES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 que hace y lo que queda fuera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4056"/>
            <a:ext cx="5175250" cy="272415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3123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6376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 sin estado: no guarda documentos ni datos de usuario.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2726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revocación solo se consulta para cadenas de confianza, con protección frente a SSRF.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3150" y="390763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dominio no depende de ninguna librería.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974056"/>
            <a:ext cx="5175250" cy="272415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6350">
            <a:solidFill>
              <a:srgbClr val="DA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223123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Límites conocidos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57950" y="26376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login: cualquiera con la URL puede usarlo, no es para documentos confidenciales.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57950" y="32726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Conformidad PDF/A-1b; otros perfiles no están cubiertos.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57950" y="39076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Subfiltros de firma admitidos: PKCS#7 y CAdES separados.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4101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Inspector &amp; Signature Verifier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75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00" kern="0" dirty="0">
                <a:solidFill>
                  <a:srgbClr val="6CC5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DEMOSTRACIÓN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45368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6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Pruébalo con tu propio PDF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426420"/>
            <a:ext cx="1088339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https://vps-651608c6.vps.ovh.net/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10200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Código: https://github.com/avalinani/verificador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46266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Licencia GNU GPL v3.0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Inspector - TFM</dc:title>
  <dc:subject>PptxGenJS Presentation</dc:subject>
  <dc:creator>PptxGenJS</dc:creator>
  <cp:lastModifiedBy>PptxGenJS</cp:lastModifiedBy>
  <cp:revision>1</cp:revision>
  <dcterms:created xsi:type="dcterms:W3CDTF">2026-09-30T06:54:30Z</dcterms:created>
  <dcterms:modified xsi:type="dcterms:W3CDTF">2026-09-30T06:54:30Z</dcterms:modified>
</cp:coreProperties>
</file>