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TFM. El servicio recibe un PDF y devuelve un informe estructurado. La demo está desplegada en la URL del pie, con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visores de PDF muestran un icono de firma, pero no explican por qué es válida o no. Este servicio responde a las cuatro preguntas con un informe técnico y un veredicto claro.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en una sola llamada POST /api/v1/pdf/analyze. El servicio es sin estado y no tiene base de datos: el documento no se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hexagonal: las dependencias apuntan hacia el dominio. Los adaptadores de infraestructura implementan los puertos. Una regla de ArchUnit falla la compilación si alguien rompe esa dirección.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color va acompañado siempre del texto: intacto, modificado, manipulado. Un ByteRange incoherente se trata como firma inválida sin lanzar excepción.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valores son VALID, NOT_ADMITTED e INVALID. Los calcula una política de dominio pura, sin librerías, con una tabla de decisión. En la interfaz se muestran con verde, ámbar y rojo, siempre con el texto del motivo. También hay un veredicto a nivel de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Momento de la demo en vivo: subir un PDF firmado y enseñar el veredicto. AutoFirma es un componente de terceros incluido sin modificar.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Capturas reales de la aplicación. Los PDF y los certificados son de demostración (firmante «Ana García (demo)», CA raíz de demostración cargada como ancla de confianza solo para esta prueba, también para su TSA, así que el sello es de confianza y fija la fecha de validación); no hay datos reales. A la izquierda, el documento recién firmado; a la derecha, el mismo documento con una actualización incremental añadida después de firmar: la firma sigue siendo matemáticamente correcta para su revisión, pero el veredicto es inválido porque ninguna firma cubre el contenido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 real del mismo contrato de demostración: cuatro páginas, una A4 girada 90° y un plano A3 horizontal con recorte. Un documento de 200 páginas A4 iguales queda en una sola línea. El cálculo se hace en una sola pasada con un mapa cuya clave es rotación más ancho por alto.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 real de la pantalla Firmar con un PDF de demostración seleccionado. El servidor no recibe el PDF sin firmar: AutoFirma hace la operación criptográfica en el equipo del usuario, y el PDF firmado solo se envía si se pulsa «Validar este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Licencia GPL v3, compatible con PDFBox (Apache-2.0) y Bouncy Castle (MIT). El build usa el wrapper de Maven incluido.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de mutación con PIT (perfil aparte, unos 6 minutos) eliminan el 74 % de los mutantes: los tests no solo recorren el código, también comprueban lo que hace. La prueba de carga falla si el contenedor se reinicia, lo mata el OOM o aparece un OutOfMemoryError en los logs. Las dos únicas exclusiones de SpotBugs están justificadas por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hallazgo se reprodujo primero con un test que fallaba y después se corrigió (TDD). La bomba de descompresión se comprobó en el servidor real: ahora responde 200 en menos de un segundo, con el PDF/A como «no validado» y sin reiniciar el contenedor. Tras la corrección del sello de tiempo, la cadena del firmante se valida en la fecha del sello solo si la TSA es de confianza; si no, a fecha de hoy, como recomiendan las normas ETSI.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se salta el cortafuegos ufw al publicar puertos, por eso el puerto 8963 se publica solo en 127.0.0.1 en el compose, y Caddy llega a él por la red del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Medición en el VPS de OVHcloud con un PDF sintético de 83 MB, lanzando las peticiones desde el propio servidor. Con max-concurrent 1 y 5 segundos de espera: 2 respuestas 200 y 3 respuestas 503, con un máximo de 753 MiB. Con max-concurrent 2 y 30 segundos: 5 respuestas 200, con un máximo de 1013 MiB. Además el usuario subió 4 PDFs reales, uno de 50 MB, sin fallos y con un pico de 871 MiB.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anclas no se descargan en el servidor: una herramienta de mantenimiento descarga la LOTL de la UE y la TSL española, verifica sus firmas XML contra certificados fijados por huella y regenera el almacén; un job semanal de GitHub Actions abre un PR cuando la lista cambia. Hoy son 145 anclas: 77 CA cualificadas para firma y 68 TSA cualificadas. Ampliar a otros países sería seguir los demás punteros de la LOTL. Subfiltros de firma admitidos: PKCS#7 y CAdES separados; el resto se informa como UNSUPPORTED. El dominio no depende de ninguna librería.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turno de preguntas. La demo está en línea: subir un PDF firmado y un PDF grande para enseñar el veredicto y el tiempo de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63241"/>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70881"/>
            <a:ext cx="10566400" cy="407431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63241"/>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70881"/>
            <a:ext cx="10566400" cy="407431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595239"/>
            <a:ext cx="10883392" cy="292100"/>
          </a:xfrm>
          <a:prstGeom prst="rect">
            <a:avLst/>
          </a:prstGeom>
          <a:noFill/>
          <a:ln/>
        </p:spPr>
        <p:txBody>
          <a:bodyPr wrap="square" lIns="0" tIns="0" rIns="0" bIns="0" rtlCol="0" anchor="t">
            <a:normAutofit/>
          </a:bodyPr>
          <a:lstStyle/>
          <a:p>
            <a:pPr algn="l" indent="0" marL="0">
              <a:lnSpc>
                <a:spcPts val="2100"/>
              </a:lnSpc>
              <a:buNone/>
            </a:pPr>
            <a:r>
              <a:rPr lang="en-US" sz="1500" spc="200" kern="0" dirty="0">
                <a:solidFill>
                  <a:srgbClr val="6CC5B5"/>
                </a:solidFill>
                <a:latin typeface="IBM Plex Sans" pitchFamily="34" charset="0"/>
                <a:ea typeface="IBM Plex Sans" pitchFamily="34" charset="-122"/>
                <a:cs typeface="IBM Plex Sans" pitchFamily="34" charset="-120"/>
              </a:rPr>
              <a:t>TRABAJO FIN DE MÁSTER</a:t>
            </a:r>
            <a:endParaRPr lang="en-US" sz="1500" dirty="0"/>
          </a:p>
        </p:txBody>
      </p:sp>
      <p:sp>
        <p:nvSpPr>
          <p:cNvPr id="3" name="Text 1"/>
          <p:cNvSpPr/>
          <p:nvPr>
            <p:ph type="title"/>
          </p:nvPr>
        </p:nvSpPr>
        <p:spPr>
          <a:xfrm>
            <a:off x="812800" y="2115939"/>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0"/>
                </a:solidFill>
                <a:latin typeface="Source Serif 4" pitchFamily="18" charset="0"/>
                <a:ea typeface="Source Serif 4" pitchFamily="18" charset="-122"/>
                <a:cs typeface="Source Serif 4" pitchFamily="18" charset="-120"/>
              </a:rPr>
              <a:t>PDF Inspector &amp; Signature Verifier</a:t>
            </a:r>
            <a:endParaRPr lang="en-US" sz="6000" dirty="0"/>
          </a:p>
        </p:txBody>
      </p:sp>
      <p:sp>
        <p:nvSpPr>
          <p:cNvPr id="4" name="Text 2"/>
          <p:cNvSpPr/>
          <p:nvPr/>
        </p:nvSpPr>
        <p:spPr>
          <a:xfrm>
            <a:off x="812800" y="3970139"/>
            <a:ext cx="9156700" cy="1114822"/>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1E3"/>
                </a:solidFill>
                <a:latin typeface="IBM Plex Sans" pitchFamily="34" charset="0"/>
                <a:ea typeface="IBM Plex Sans" pitchFamily="34" charset="-122"/>
                <a:cs typeface="IBM Plex Sans" pitchFamily="34" charset="-120"/>
              </a:rPr>
              <a:t>Auditoría técnica y forense de documentos PDF: firmas, sellos de tiempo, cadena de confianza y conformidad PDF/A en una sola llamada.</a:t>
            </a:r>
            <a:endParaRPr lang="en-US" sz="2200" dirty="0"/>
          </a:p>
        </p:txBody>
      </p:sp>
      <p:sp>
        <p:nvSpPr>
          <p:cNvPr id="5" name="Text 3"/>
          <p:cNvSpPr/>
          <p:nvPr/>
        </p:nvSpPr>
        <p:spPr>
          <a:xfrm>
            <a:off x="812800" y="6202759"/>
            <a:ext cx="334875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C4"/>
                </a:solidFill>
                <a:latin typeface="IBM Plex Sans" pitchFamily="34" charset="0"/>
                <a:ea typeface="IBM Plex Sans" pitchFamily="34" charset="-122"/>
                <a:cs typeface="IBM Plex Sans" pitchFamily="34" charset="-120"/>
              </a:rPr>
              <a:t>https://vps-651608c6.vps.ovh.net/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EL PROBLEMA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 PDF firmado plantea cuatro preguntas</a:t>
            </a:r>
            <a:endParaRPr lang="en-US" sz="3600" dirty="0"/>
          </a:p>
        </p:txBody>
      </p:sp>
      <p:sp>
        <p:nvSpPr>
          <p:cNvPr id="4" name="Shape 2"/>
          <p:cNvSpPr/>
          <p:nvPr/>
        </p:nvSpPr>
        <p:spPr>
          <a:xfrm>
            <a:off x="815975" y="2024856"/>
            <a:ext cx="2482850" cy="2292350"/>
          </a:xfrm>
          <a:prstGeom prst="roundRect">
            <a:avLst>
              <a:gd name="adj" fmla="val 4294"/>
            </a:avLst>
          </a:prstGeom>
          <a:solidFill>
            <a:srgbClr val="FFFFFF"/>
          </a:solidFill>
          <a:ln w="6350">
            <a:solidFill>
              <a:srgbClr val="DAD8CF"/>
            </a:solidFill>
            <a:prstDash val="solid"/>
          </a:ln>
        </p:spPr>
      </p:sp>
      <p:sp>
        <p:nvSpPr>
          <p:cNvPr id="5" name="Text 3"/>
          <p:cNvSpPr/>
          <p:nvPr/>
        </p:nvSpPr>
        <p:spPr>
          <a:xfrm>
            <a:off x="1073150" y="2282031"/>
            <a:ext cx="202755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¿Está intacto?</a:t>
            </a:r>
            <a:endParaRPr lang="en-US" sz="2000" dirty="0"/>
          </a:p>
        </p:txBody>
      </p:sp>
      <p:sp>
        <p:nvSpPr>
          <p:cNvPr id="6" name="Text 4"/>
          <p:cNvSpPr/>
          <p:nvPr/>
        </p:nvSpPr>
        <p:spPr>
          <a:xfrm>
            <a:off x="1073150" y="2688431"/>
            <a:ext cx="2027555"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firma es válida y nadie ha tocado los bytes firmados ni añadido cambios después.</a:t>
            </a:r>
            <a:endParaRPr lang="en-US" sz="1500" dirty="0"/>
          </a:p>
        </p:txBody>
      </p:sp>
      <p:sp>
        <p:nvSpPr>
          <p:cNvPr id="7" name="Shape 5"/>
          <p:cNvSpPr/>
          <p:nvPr/>
        </p:nvSpPr>
        <p:spPr>
          <a:xfrm>
            <a:off x="3508375" y="2024856"/>
            <a:ext cx="2482850" cy="2292350"/>
          </a:xfrm>
          <a:prstGeom prst="roundRect">
            <a:avLst>
              <a:gd name="adj" fmla="val 4294"/>
            </a:avLst>
          </a:prstGeom>
          <a:solidFill>
            <a:srgbClr val="FFFFFF"/>
          </a:solidFill>
          <a:ln w="6350">
            <a:solidFill>
              <a:srgbClr val="DAD8CF"/>
            </a:solidFill>
            <a:prstDash val="solid"/>
          </a:ln>
        </p:spPr>
      </p:sp>
      <p:sp>
        <p:nvSpPr>
          <p:cNvPr id="8" name="Text 6"/>
          <p:cNvSpPr/>
          <p:nvPr/>
        </p:nvSpPr>
        <p:spPr>
          <a:xfrm>
            <a:off x="3765550" y="2282031"/>
            <a:ext cx="202755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¿Quién firmó?</a:t>
            </a:r>
            <a:endParaRPr lang="en-US" sz="2000" dirty="0"/>
          </a:p>
        </p:txBody>
      </p:sp>
      <p:sp>
        <p:nvSpPr>
          <p:cNvPr id="9" name="Text 7"/>
          <p:cNvSpPr/>
          <p:nvPr/>
        </p:nvSpPr>
        <p:spPr>
          <a:xfrm>
            <a:off x="3765550" y="2688431"/>
            <a:ext cx="2027555"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Datos del certificado del firmante y de su cadena de emisores.</a:t>
            </a:r>
            <a:endParaRPr lang="en-US" sz="1500" dirty="0"/>
          </a:p>
        </p:txBody>
      </p:sp>
      <p:sp>
        <p:nvSpPr>
          <p:cNvPr id="10" name="Shape 8"/>
          <p:cNvSpPr/>
          <p:nvPr/>
        </p:nvSpPr>
        <p:spPr>
          <a:xfrm>
            <a:off x="6200775" y="2024856"/>
            <a:ext cx="2482850" cy="2292350"/>
          </a:xfrm>
          <a:prstGeom prst="roundRect">
            <a:avLst>
              <a:gd name="adj" fmla="val 4294"/>
            </a:avLst>
          </a:prstGeom>
          <a:solidFill>
            <a:srgbClr val="FFFFFF"/>
          </a:solidFill>
          <a:ln w="6350">
            <a:solidFill>
              <a:srgbClr val="DAD8CF"/>
            </a:solidFill>
            <a:prstDash val="solid"/>
          </a:ln>
        </p:spPr>
      </p:sp>
      <p:sp>
        <p:nvSpPr>
          <p:cNvPr id="11" name="Text 9"/>
          <p:cNvSpPr/>
          <p:nvPr/>
        </p:nvSpPr>
        <p:spPr>
          <a:xfrm>
            <a:off x="6457950" y="2282031"/>
            <a:ext cx="202755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¿Es de confianza?</a:t>
            </a:r>
            <a:endParaRPr lang="en-US" sz="2000" dirty="0"/>
          </a:p>
        </p:txBody>
      </p:sp>
      <p:sp>
        <p:nvSpPr>
          <p:cNvPr id="12" name="Text 10"/>
          <p:cNvSpPr/>
          <p:nvPr/>
        </p:nvSpPr>
        <p:spPr>
          <a:xfrm>
            <a:off x="6457950" y="2993231"/>
            <a:ext cx="2027555"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cadena llega a una raíz de confianza y el certificado no está revocado.</a:t>
            </a:r>
            <a:endParaRPr lang="en-US" sz="1500" dirty="0"/>
          </a:p>
        </p:txBody>
      </p:sp>
      <p:sp>
        <p:nvSpPr>
          <p:cNvPr id="13" name="Shape 11"/>
          <p:cNvSpPr/>
          <p:nvPr/>
        </p:nvSpPr>
        <p:spPr>
          <a:xfrm>
            <a:off x="8893175" y="2024856"/>
            <a:ext cx="2482850" cy="2292350"/>
          </a:xfrm>
          <a:prstGeom prst="roundRect">
            <a:avLst>
              <a:gd name="adj" fmla="val 4294"/>
            </a:avLst>
          </a:prstGeom>
          <a:solidFill>
            <a:srgbClr val="FFFFFF"/>
          </a:solidFill>
          <a:ln w="6350">
            <a:solidFill>
              <a:srgbClr val="DAD8CF"/>
            </a:solidFill>
            <a:prstDash val="solid"/>
          </a:ln>
        </p:spPr>
      </p:sp>
      <p:sp>
        <p:nvSpPr>
          <p:cNvPr id="14" name="Text 12"/>
          <p:cNvSpPr/>
          <p:nvPr/>
        </p:nvSpPr>
        <p:spPr>
          <a:xfrm>
            <a:off x="9150350" y="2282031"/>
            <a:ext cx="202755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¿Cumple el formato?</a:t>
            </a:r>
            <a:endParaRPr lang="en-US" sz="2000" dirty="0"/>
          </a:p>
        </p:txBody>
      </p:sp>
      <p:sp>
        <p:nvSpPr>
          <p:cNvPr id="15" name="Text 13"/>
          <p:cNvSpPr/>
          <p:nvPr/>
        </p:nvSpPr>
        <p:spPr>
          <a:xfrm>
            <a:off x="9150350" y="2993231"/>
            <a:ext cx="2027555"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Conformidad PDF/A-1b, estructura, cifrado y permisos del documento.</a:t>
            </a:r>
            <a:endParaRPr lang="en-US" sz="1500" dirty="0"/>
          </a:p>
        </p:txBody>
      </p:sp>
      <p:sp>
        <p:nvSpPr>
          <p:cNvPr id="16" name="Text 14"/>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QUÉ INFORMA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 informe JSON, sin guardar el documento</a:t>
            </a:r>
            <a:endParaRPr lang="en-US" sz="3600" dirty="0"/>
          </a:p>
        </p:txBody>
      </p:sp>
      <p:sp>
        <p:nvSpPr>
          <p:cNvPr id="4" name="Shape 2"/>
          <p:cNvSpPr/>
          <p:nvPr/>
        </p:nvSpPr>
        <p:spPr>
          <a:xfrm>
            <a:off x="815975" y="1974056"/>
            <a:ext cx="3397250" cy="1455341"/>
          </a:xfrm>
          <a:prstGeom prst="roundRect">
            <a:avLst>
              <a:gd name="adj" fmla="val 6763"/>
            </a:avLst>
          </a:prstGeom>
          <a:solidFill>
            <a:srgbClr val="FFFFFF"/>
          </a:solidFill>
          <a:ln w="6350">
            <a:solidFill>
              <a:srgbClr val="DAD8CF"/>
            </a:solidFill>
            <a:prstDash val="solid"/>
          </a:ln>
        </p:spPr>
      </p:sp>
      <p:sp>
        <p:nvSpPr>
          <p:cNvPr id="5" name="Text 3"/>
          <p:cNvSpPr/>
          <p:nvPr/>
        </p:nvSpPr>
        <p:spPr>
          <a:xfrm>
            <a:off x="10223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Integridad</a:t>
            </a:r>
            <a:endParaRPr lang="en-US" sz="1700" dirty="0"/>
          </a:p>
        </p:txBody>
      </p:sp>
      <p:sp>
        <p:nvSpPr>
          <p:cNvPr id="6" name="Text 4"/>
          <p:cNvSpPr/>
          <p:nvPr/>
        </p:nvSpPr>
        <p:spPr>
          <a:xfrm>
            <a:off x="1022350" y="2502991"/>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Firma CMS/PAdES, cobertura de </a:t>
            </a:r>
            <a:r>
              <a:rPr lang="en-US" sz="1400" b="1" dirty="0">
                <a:solidFill>
                  <a:srgbClr val="4A5568"/>
                </a:solidFill>
                <a:latin typeface="IBM Plex Sans" pitchFamily="34" charset="0"/>
                <a:ea typeface="IBM Plex Sans" pitchFamily="34" charset="-122"/>
                <a:cs typeface="IBM Plex Sans" pitchFamily="34" charset="-120"/>
              </a:rPr>
              <a:t>/ByteRange</a:t>
            </a:r>
            <a:r>
              <a:rPr lang="en-US" sz="1400" dirty="0">
                <a:solidFill>
                  <a:srgbClr val="4A5568"/>
                </a:solidFill>
                <a:latin typeface="IBM Plex Sans" pitchFamily="34" charset="0"/>
                <a:ea typeface="IBM Plex Sans" pitchFamily="34" charset="-122"/>
                <a:cs typeface="IBM Plex Sans" pitchFamily="34" charset="-120"/>
              </a:rPr>
              <a:t> y cambios posteriores.</a:t>
            </a:r>
            <a:endParaRPr lang="en-US" sz="1400" dirty="0"/>
          </a:p>
        </p:txBody>
      </p:sp>
      <p:sp>
        <p:nvSpPr>
          <p:cNvPr id="7" name="Shape 5"/>
          <p:cNvSpPr/>
          <p:nvPr/>
        </p:nvSpPr>
        <p:spPr>
          <a:xfrm>
            <a:off x="4397375" y="1974056"/>
            <a:ext cx="3397250" cy="1455341"/>
          </a:xfrm>
          <a:prstGeom prst="roundRect">
            <a:avLst>
              <a:gd name="adj" fmla="val 6763"/>
            </a:avLst>
          </a:prstGeom>
          <a:solidFill>
            <a:srgbClr val="FFFFFF"/>
          </a:solidFill>
          <a:ln w="6350">
            <a:solidFill>
              <a:srgbClr val="DAD8CF"/>
            </a:solidFill>
            <a:prstDash val="solid"/>
          </a:ln>
        </p:spPr>
      </p:sp>
      <p:sp>
        <p:nvSpPr>
          <p:cNvPr id="8" name="Text 6"/>
          <p:cNvSpPr/>
          <p:nvPr/>
        </p:nvSpPr>
        <p:spPr>
          <a:xfrm>
            <a:off x="46037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Sellos de tiempo</a:t>
            </a:r>
            <a:endParaRPr lang="en-US" sz="1700" dirty="0"/>
          </a:p>
        </p:txBody>
      </p:sp>
      <p:sp>
        <p:nvSpPr>
          <p:cNvPr id="9" name="Text 7"/>
          <p:cNvSpPr/>
          <p:nvPr/>
        </p:nvSpPr>
        <p:spPr>
          <a:xfrm>
            <a:off x="4603750" y="2502991"/>
            <a:ext cx="3074035"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RFC 3161: imprint y firma de la TSA.</a:t>
            </a:r>
            <a:endParaRPr lang="en-US" sz="1400" dirty="0"/>
          </a:p>
        </p:txBody>
      </p:sp>
      <p:sp>
        <p:nvSpPr>
          <p:cNvPr id="10" name="Shape 8"/>
          <p:cNvSpPr/>
          <p:nvPr/>
        </p:nvSpPr>
        <p:spPr>
          <a:xfrm>
            <a:off x="7978775" y="1974056"/>
            <a:ext cx="3397250" cy="1455341"/>
          </a:xfrm>
          <a:prstGeom prst="roundRect">
            <a:avLst>
              <a:gd name="adj" fmla="val 6763"/>
            </a:avLst>
          </a:prstGeom>
          <a:solidFill>
            <a:srgbClr val="FFFFFF"/>
          </a:solidFill>
          <a:ln w="6350">
            <a:solidFill>
              <a:srgbClr val="DAD8CF"/>
            </a:solidFill>
            <a:prstDash val="solid"/>
          </a:ln>
        </p:spPr>
      </p:sp>
      <p:sp>
        <p:nvSpPr>
          <p:cNvPr id="11" name="Text 9"/>
          <p:cNvSpPr/>
          <p:nvPr/>
        </p:nvSpPr>
        <p:spPr>
          <a:xfrm>
            <a:off x="81851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Cadena X.509</a:t>
            </a:r>
            <a:endParaRPr lang="en-US" sz="1700" dirty="0"/>
          </a:p>
        </p:txBody>
      </p:sp>
      <p:sp>
        <p:nvSpPr>
          <p:cNvPr id="12" name="Text 10"/>
          <p:cNvSpPr/>
          <p:nvPr/>
        </p:nvSpPr>
        <p:spPr>
          <a:xfrm>
            <a:off x="8185150" y="2502991"/>
            <a:ext cx="3074035"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Validación PKIX contra las CA y TSA cualificadas de la Lista de Confianza española.</a:t>
            </a:r>
            <a:endParaRPr lang="en-US" sz="1400" dirty="0"/>
          </a:p>
        </p:txBody>
      </p:sp>
      <p:sp>
        <p:nvSpPr>
          <p:cNvPr id="13" name="Shape 11"/>
          <p:cNvSpPr/>
          <p:nvPr/>
        </p:nvSpPr>
        <p:spPr>
          <a:xfrm>
            <a:off x="815975" y="3613547"/>
            <a:ext cx="3397250" cy="1215330"/>
          </a:xfrm>
          <a:prstGeom prst="roundRect">
            <a:avLst>
              <a:gd name="adj" fmla="val 8099"/>
            </a:avLst>
          </a:prstGeom>
          <a:solidFill>
            <a:srgbClr val="FFFFFF"/>
          </a:solidFill>
          <a:ln w="6350">
            <a:solidFill>
              <a:srgbClr val="DAD8CF"/>
            </a:solidFill>
            <a:prstDash val="solid"/>
          </a:ln>
        </p:spPr>
      </p:sp>
      <p:sp>
        <p:nvSpPr>
          <p:cNvPr id="14" name="Text 12"/>
          <p:cNvSpPr/>
          <p:nvPr/>
        </p:nvSpPr>
        <p:spPr>
          <a:xfrm>
            <a:off x="1022350" y="381992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Revocación</a:t>
            </a:r>
            <a:endParaRPr lang="en-US" sz="1700" dirty="0"/>
          </a:p>
        </p:txBody>
      </p:sp>
      <p:sp>
        <p:nvSpPr>
          <p:cNvPr id="15" name="Text 13"/>
          <p:cNvSpPr/>
          <p:nvPr/>
        </p:nvSpPr>
        <p:spPr>
          <a:xfrm>
            <a:off x="1022350" y="4142482"/>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OCSP y CRL, opcional y con tiempo máximo de 2 s.</a:t>
            </a:r>
            <a:endParaRPr lang="en-US" sz="1400" dirty="0"/>
          </a:p>
        </p:txBody>
      </p:sp>
      <p:sp>
        <p:nvSpPr>
          <p:cNvPr id="16" name="Shape 14"/>
          <p:cNvSpPr/>
          <p:nvPr/>
        </p:nvSpPr>
        <p:spPr>
          <a:xfrm>
            <a:off x="4397375" y="3613547"/>
            <a:ext cx="3397250" cy="1215330"/>
          </a:xfrm>
          <a:prstGeom prst="roundRect">
            <a:avLst>
              <a:gd name="adj" fmla="val 8099"/>
            </a:avLst>
          </a:prstGeom>
          <a:solidFill>
            <a:srgbClr val="FFFFFF"/>
          </a:solidFill>
          <a:ln w="6350">
            <a:solidFill>
              <a:srgbClr val="DAD8CF"/>
            </a:solidFill>
            <a:prstDash val="solid"/>
          </a:ln>
        </p:spPr>
      </p:sp>
      <p:sp>
        <p:nvSpPr>
          <p:cNvPr id="17" name="Text 15"/>
          <p:cNvSpPr/>
          <p:nvPr/>
        </p:nvSpPr>
        <p:spPr>
          <a:xfrm>
            <a:off x="4603750" y="381992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PDF/A-1b</a:t>
            </a:r>
            <a:endParaRPr lang="en-US" sz="1700" dirty="0"/>
          </a:p>
        </p:txBody>
      </p:sp>
      <p:sp>
        <p:nvSpPr>
          <p:cNvPr id="18" name="Text 16"/>
          <p:cNvSpPr/>
          <p:nvPr/>
        </p:nvSpPr>
        <p:spPr>
          <a:xfrm>
            <a:off x="4603750" y="4142482"/>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Validación formal con el módulo </a:t>
            </a:r>
            <a:r>
              <a:rPr lang="en-US" sz="1400" i="1" dirty="0">
                <a:solidFill>
                  <a:srgbClr val="4A5568"/>
                </a:solidFill>
                <a:latin typeface="IBM Plex Sans" pitchFamily="34" charset="0"/>
                <a:ea typeface="IBM Plex Sans" pitchFamily="34" charset="-122"/>
                <a:cs typeface="IBM Plex Sans" pitchFamily="34" charset="-120"/>
              </a:rPr>
              <a:t>preflight</a:t>
            </a:r>
            <a:r>
              <a:rPr lang="en-US" sz="1400" dirty="0">
                <a:solidFill>
                  <a:srgbClr val="4A5568"/>
                </a:solidFill>
                <a:latin typeface="IBM Plex Sans" pitchFamily="34" charset="0"/>
                <a:ea typeface="IBM Plex Sans" pitchFamily="34" charset="-122"/>
                <a:cs typeface="IBM Plex Sans" pitchFamily="34" charset="-120"/>
              </a:rPr>
              <a:t> de PDFBox.</a:t>
            </a:r>
            <a:endParaRPr lang="en-US" sz="1400" dirty="0"/>
          </a:p>
        </p:txBody>
      </p:sp>
      <p:sp>
        <p:nvSpPr>
          <p:cNvPr id="19" name="Shape 17"/>
          <p:cNvSpPr/>
          <p:nvPr/>
        </p:nvSpPr>
        <p:spPr>
          <a:xfrm>
            <a:off x="7978775" y="3613547"/>
            <a:ext cx="3397250" cy="1215330"/>
          </a:xfrm>
          <a:prstGeom prst="roundRect">
            <a:avLst>
              <a:gd name="adj" fmla="val 8099"/>
            </a:avLst>
          </a:prstGeom>
          <a:solidFill>
            <a:srgbClr val="FFFFFF"/>
          </a:solidFill>
          <a:ln w="6350">
            <a:solidFill>
              <a:srgbClr val="DAD8CF"/>
            </a:solidFill>
            <a:prstDash val="solid"/>
          </a:ln>
        </p:spPr>
      </p:sp>
      <p:sp>
        <p:nvSpPr>
          <p:cNvPr id="20" name="Text 18"/>
          <p:cNvSpPr/>
          <p:nvPr/>
        </p:nvSpPr>
        <p:spPr>
          <a:xfrm>
            <a:off x="8185150" y="381992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Propiedades</a:t>
            </a:r>
            <a:endParaRPr lang="en-US" sz="1700" dirty="0"/>
          </a:p>
        </p:txBody>
      </p:sp>
      <p:sp>
        <p:nvSpPr>
          <p:cNvPr id="21" name="Text 19"/>
          <p:cNvSpPr/>
          <p:nvPr/>
        </p:nvSpPr>
        <p:spPr>
          <a:xfrm>
            <a:off x="8185150" y="4142482"/>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Versión, páginas, rotación, dimensiones, cifrado y permisos.</a:t>
            </a:r>
            <a:endParaRPr lang="en-US" sz="1400" dirty="0"/>
          </a:p>
        </p:txBody>
      </p:sp>
      <p:sp>
        <p:nvSpPr>
          <p:cNvPr id="22" name="Text 20"/>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ARQUITECTURA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Hexagonal, y comprobada por tests</a:t>
            </a:r>
            <a:endParaRPr lang="en-US" sz="3600" dirty="0"/>
          </a:p>
        </p:txBody>
      </p:sp>
      <p:sp>
        <p:nvSpPr>
          <p:cNvPr id="4" name="Shape 2"/>
          <p:cNvSpPr/>
          <p:nvPr/>
        </p:nvSpPr>
        <p:spPr>
          <a:xfrm>
            <a:off x="815975" y="1974056"/>
            <a:ext cx="2139950" cy="1774031"/>
          </a:xfrm>
          <a:prstGeom prst="roundRect">
            <a:avLst>
              <a:gd name="adj" fmla="val 5548"/>
            </a:avLst>
          </a:prstGeom>
          <a:solidFill>
            <a:srgbClr val="1E2F55"/>
          </a:solidFill>
          <a:ln w="6350">
            <a:solidFill>
              <a:srgbClr val="3A4C78"/>
            </a:solidFill>
            <a:prstDash val="solid"/>
          </a:ln>
        </p:spPr>
      </p:sp>
      <p:sp>
        <p:nvSpPr>
          <p:cNvPr id="5" name="Text 3"/>
          <p:cNvSpPr/>
          <p:nvPr/>
        </p:nvSpPr>
        <p:spPr>
          <a:xfrm>
            <a:off x="10477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api</a:t>
            </a:r>
            <a:endParaRPr lang="en-US" sz="1800" dirty="0"/>
          </a:p>
        </p:txBody>
      </p:sp>
      <p:sp>
        <p:nvSpPr>
          <p:cNvPr id="6" name="Text 4"/>
          <p:cNvSpPr/>
          <p:nvPr/>
        </p:nvSpPr>
        <p:spPr>
          <a:xfrm>
            <a:off x="10477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Controlador REST, errores RFC 9457 y límite de análisis simultáneos.</a:t>
            </a:r>
            <a:endParaRPr lang="en-US" sz="1400" dirty="0"/>
          </a:p>
        </p:txBody>
      </p:sp>
      <p:sp>
        <p:nvSpPr>
          <p:cNvPr id="7" name="Text 5"/>
          <p:cNvSpPr/>
          <p:nvPr/>
        </p:nvSpPr>
        <p:spPr>
          <a:xfrm>
            <a:off x="31115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8" name="Shape 6"/>
          <p:cNvSpPr/>
          <p:nvPr/>
        </p:nvSpPr>
        <p:spPr>
          <a:xfrm>
            <a:off x="3622675" y="1974056"/>
            <a:ext cx="2139950" cy="1774031"/>
          </a:xfrm>
          <a:prstGeom prst="roundRect">
            <a:avLst>
              <a:gd name="adj" fmla="val 5548"/>
            </a:avLst>
          </a:prstGeom>
          <a:solidFill>
            <a:srgbClr val="1E2F55"/>
          </a:solidFill>
          <a:ln w="6350">
            <a:solidFill>
              <a:srgbClr val="3A4C78"/>
            </a:solidFill>
            <a:prstDash val="solid"/>
          </a:ln>
        </p:spPr>
      </p:sp>
      <p:sp>
        <p:nvSpPr>
          <p:cNvPr id="9" name="Text 7"/>
          <p:cNvSpPr/>
          <p:nvPr/>
        </p:nvSpPr>
        <p:spPr>
          <a:xfrm>
            <a:off x="38544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application</a:t>
            </a:r>
            <a:endParaRPr lang="en-US" sz="1800" dirty="0"/>
          </a:p>
        </p:txBody>
      </p:sp>
      <p:sp>
        <p:nvSpPr>
          <p:cNvPr id="10" name="Text 8"/>
          <p:cNvSpPr/>
          <p:nvPr/>
        </p:nvSpPr>
        <p:spPr>
          <a:xfrm>
            <a:off x="38544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Caso de uso </a:t>
            </a:r>
            <a:r>
              <a:rPr lang="en-US" sz="1400" b="1" dirty="0">
                <a:solidFill>
                  <a:srgbClr val="C9D1E3"/>
                </a:solidFill>
                <a:latin typeface="IBM Plex Sans" pitchFamily="34" charset="0"/>
                <a:ea typeface="IBM Plex Sans" pitchFamily="34" charset="-122"/>
                <a:cs typeface="IBM Plex Sans" pitchFamily="34" charset="-120"/>
              </a:rPr>
              <a:t>AnalyzePdfUseCase</a:t>
            </a:r>
            <a:r>
              <a:rPr lang="en-US" sz="1400" dirty="0">
                <a:solidFill>
                  <a:srgbClr val="C9D1E3"/>
                </a:solidFill>
                <a:latin typeface="IBM Plex Sans" pitchFamily="34" charset="0"/>
                <a:ea typeface="IBM Plex Sans" pitchFamily="34" charset="-122"/>
                <a:cs typeface="IBM Plex Sans" pitchFamily="34" charset="-120"/>
              </a:rPr>
              <a:t>: orquesta y aísla los fallos por sección.</a:t>
            </a:r>
            <a:endParaRPr lang="en-US" sz="1400" dirty="0"/>
          </a:p>
        </p:txBody>
      </p:sp>
      <p:sp>
        <p:nvSpPr>
          <p:cNvPr id="11" name="Text 9"/>
          <p:cNvSpPr/>
          <p:nvPr/>
        </p:nvSpPr>
        <p:spPr>
          <a:xfrm>
            <a:off x="59182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12" name="Shape 10"/>
          <p:cNvSpPr/>
          <p:nvPr/>
        </p:nvSpPr>
        <p:spPr>
          <a:xfrm>
            <a:off x="6429375" y="1974056"/>
            <a:ext cx="2139950" cy="1774031"/>
          </a:xfrm>
          <a:prstGeom prst="roundRect">
            <a:avLst>
              <a:gd name="adj" fmla="val 5548"/>
            </a:avLst>
          </a:prstGeom>
          <a:solidFill>
            <a:srgbClr val="1E2F55"/>
          </a:solidFill>
          <a:ln w="6350">
            <a:solidFill>
              <a:srgbClr val="3A4C78"/>
            </a:solidFill>
            <a:prstDash val="solid"/>
          </a:ln>
        </p:spPr>
      </p:sp>
      <p:sp>
        <p:nvSpPr>
          <p:cNvPr id="13" name="Text 11"/>
          <p:cNvSpPr/>
          <p:nvPr/>
        </p:nvSpPr>
        <p:spPr>
          <a:xfrm>
            <a:off x="66611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domain</a:t>
            </a:r>
            <a:endParaRPr lang="en-US" sz="1800" dirty="0"/>
          </a:p>
        </p:txBody>
      </p:sp>
      <p:sp>
        <p:nvSpPr>
          <p:cNvPr id="14" name="Text 12"/>
          <p:cNvSpPr/>
          <p:nvPr/>
        </p:nvSpPr>
        <p:spPr>
          <a:xfrm>
            <a:off x="6661150" y="2556272"/>
            <a:ext cx="1727200"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Modelo y puertos, sin dependencias de librerías.</a:t>
            </a:r>
            <a:endParaRPr lang="en-US" sz="1400" dirty="0"/>
          </a:p>
        </p:txBody>
      </p:sp>
      <p:sp>
        <p:nvSpPr>
          <p:cNvPr id="15" name="Text 13"/>
          <p:cNvSpPr/>
          <p:nvPr/>
        </p:nvSpPr>
        <p:spPr>
          <a:xfrm>
            <a:off x="87249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16" name="Shape 14"/>
          <p:cNvSpPr/>
          <p:nvPr/>
        </p:nvSpPr>
        <p:spPr>
          <a:xfrm>
            <a:off x="9236075" y="1974056"/>
            <a:ext cx="2139950" cy="1774031"/>
          </a:xfrm>
          <a:prstGeom prst="roundRect">
            <a:avLst>
              <a:gd name="adj" fmla="val 5548"/>
            </a:avLst>
          </a:prstGeom>
          <a:solidFill>
            <a:srgbClr val="1E2F55"/>
          </a:solidFill>
          <a:ln w="6350">
            <a:solidFill>
              <a:srgbClr val="3A4C78"/>
            </a:solidFill>
            <a:prstDash val="solid"/>
          </a:ln>
        </p:spPr>
      </p:sp>
      <p:sp>
        <p:nvSpPr>
          <p:cNvPr id="17" name="Text 15"/>
          <p:cNvSpPr/>
          <p:nvPr/>
        </p:nvSpPr>
        <p:spPr>
          <a:xfrm>
            <a:off x="94678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infrastructure</a:t>
            </a:r>
            <a:endParaRPr lang="en-US" sz="1800" dirty="0"/>
          </a:p>
        </p:txBody>
      </p:sp>
      <p:sp>
        <p:nvSpPr>
          <p:cNvPr id="18" name="Text 16"/>
          <p:cNvSpPr/>
          <p:nvPr/>
        </p:nvSpPr>
        <p:spPr>
          <a:xfrm>
            <a:off x="94678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Adaptadores: PDFBox, </a:t>
            </a:r>
            <a:r>
              <a:rPr lang="en-US" sz="1400" i="1" dirty="0">
                <a:solidFill>
                  <a:srgbClr val="C9D1E3"/>
                </a:solidFill>
                <a:latin typeface="IBM Plex Sans" pitchFamily="34" charset="0"/>
                <a:ea typeface="IBM Plex Sans" pitchFamily="34" charset="-122"/>
                <a:cs typeface="IBM Plex Sans" pitchFamily="34" charset="-120"/>
              </a:rPr>
              <a:t>preflight</a:t>
            </a:r>
            <a:r>
              <a:rPr lang="en-US" sz="1400" dirty="0">
                <a:solidFill>
                  <a:srgbClr val="C9D1E3"/>
                </a:solidFill>
                <a:latin typeface="IBM Plex Sans" pitchFamily="34" charset="0"/>
                <a:ea typeface="IBM Plex Sans" pitchFamily="34" charset="-122"/>
                <a:cs typeface="IBM Plex Sans" pitchFamily="34" charset="-120"/>
              </a:rPr>
              <a:t>, Bouncy Castle, OCSP/CRL.</a:t>
            </a:r>
            <a:endParaRPr lang="en-US" sz="1400" dirty="0"/>
          </a:p>
        </p:txBody>
      </p:sp>
      <p:sp>
        <p:nvSpPr>
          <p:cNvPr id="19" name="Text 17"/>
          <p:cNvSpPr/>
          <p:nvPr/>
        </p:nvSpPr>
        <p:spPr>
          <a:xfrm>
            <a:off x="812800" y="4056063"/>
            <a:ext cx="981075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C9D1E3"/>
                </a:solidFill>
                <a:latin typeface="IBM Plex Sans" pitchFamily="34" charset="0"/>
                <a:ea typeface="IBM Plex Sans" pitchFamily="34" charset="-122"/>
                <a:cs typeface="IBM Plex Sans" pitchFamily="34" charset="-120"/>
              </a:rPr>
              <a:t>El dominio no importa PDFBox ni Bouncy Castle: </a:t>
            </a:r>
            <a:r>
              <a:rPr lang="en-US" sz="1700" b="1" dirty="0">
                <a:solidFill>
                  <a:srgbClr val="F6F5F0"/>
                </a:solidFill>
                <a:latin typeface="IBM Plex Sans" pitchFamily="34" charset="0"/>
                <a:ea typeface="IBM Plex Sans" pitchFamily="34" charset="-122"/>
                <a:cs typeface="IBM Plex Sans" pitchFamily="34" charset="-120"/>
              </a:rPr>
              <a:t>ArchUnit lo verifica en cada compilación</a:t>
            </a:r>
            <a:r>
              <a:rPr lang="en-US" sz="1700" dirty="0">
                <a:solidFill>
                  <a:srgbClr val="C9D1E3"/>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INTEGRIDAD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Distingue tres situaciones tras firmar</a:t>
            </a:r>
            <a:endParaRPr lang="en-US" sz="3600" dirty="0"/>
          </a:p>
        </p:txBody>
      </p:sp>
      <p:sp>
        <p:nvSpPr>
          <p:cNvPr id="4" name="Shape 2"/>
          <p:cNvSpPr/>
          <p:nvPr/>
        </p:nvSpPr>
        <p:spPr>
          <a:xfrm>
            <a:off x="815975" y="1974056"/>
            <a:ext cx="3380284" cy="1987550"/>
          </a:xfrm>
          <a:prstGeom prst="roundRect">
            <a:avLst>
              <a:gd name="adj" fmla="val 4952"/>
            </a:avLst>
          </a:prstGeom>
          <a:solidFill>
            <a:srgbClr val="FFFFFF"/>
          </a:solidFill>
          <a:ln w="6350">
            <a:solidFill>
              <a:srgbClr val="DAD8CF"/>
            </a:solidFill>
            <a:prstDash val="solid"/>
          </a:ln>
        </p:spPr>
      </p:sp>
      <p:sp>
        <p:nvSpPr>
          <p:cNvPr id="5" name="Text 3"/>
          <p:cNvSpPr/>
          <p:nvPr/>
        </p:nvSpPr>
        <p:spPr>
          <a:xfrm>
            <a:off x="1073150" y="2231231"/>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Intacto</a:t>
            </a:r>
            <a:endParaRPr lang="en-US" sz="2000" dirty="0"/>
          </a:p>
        </p:txBody>
      </p:sp>
      <p:sp>
        <p:nvSpPr>
          <p:cNvPr id="6" name="Text 4"/>
          <p:cNvSpPr/>
          <p:nvPr/>
        </p:nvSpPr>
        <p:spPr>
          <a:xfrm>
            <a:off x="1073150" y="263763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firma cubre todo el documento y coincide con su resumen criptográfico.</a:t>
            </a:r>
            <a:endParaRPr lang="en-US" sz="1500" dirty="0"/>
          </a:p>
        </p:txBody>
      </p:sp>
      <p:sp>
        <p:nvSpPr>
          <p:cNvPr id="7" name="Shape 5"/>
          <p:cNvSpPr/>
          <p:nvPr/>
        </p:nvSpPr>
        <p:spPr>
          <a:xfrm>
            <a:off x="4405809" y="1974056"/>
            <a:ext cx="3380383" cy="1987550"/>
          </a:xfrm>
          <a:prstGeom prst="roundRect">
            <a:avLst>
              <a:gd name="adj" fmla="val 4952"/>
            </a:avLst>
          </a:prstGeom>
          <a:solidFill>
            <a:srgbClr val="FFFFFF"/>
          </a:solidFill>
          <a:ln w="6350">
            <a:solidFill>
              <a:srgbClr val="DAD8CF"/>
            </a:solidFill>
            <a:prstDash val="solid"/>
          </a:ln>
        </p:spPr>
      </p:sp>
      <p:sp>
        <p:nvSpPr>
          <p:cNvPr id="8" name="Text 6"/>
          <p:cNvSpPr/>
          <p:nvPr/>
        </p:nvSpPr>
        <p:spPr>
          <a:xfrm>
            <a:off x="4662984" y="2231231"/>
            <a:ext cx="295201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Modificado después</a:t>
            </a:r>
            <a:endParaRPr lang="en-US" sz="2000" dirty="0"/>
          </a:p>
        </p:txBody>
      </p:sp>
      <p:sp>
        <p:nvSpPr>
          <p:cNvPr id="9" name="Text 7"/>
          <p:cNvSpPr/>
          <p:nvPr/>
        </p:nvSpPr>
        <p:spPr>
          <a:xfrm>
            <a:off x="4662984" y="2637631"/>
            <a:ext cx="2952014"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Hay una actualización incremental posterior: la firma original sigue siendo válida, pero el documento cambió.</a:t>
            </a:r>
            <a:endParaRPr lang="en-US" sz="1500" dirty="0"/>
          </a:p>
        </p:txBody>
      </p:sp>
      <p:sp>
        <p:nvSpPr>
          <p:cNvPr id="10" name="Shape 8"/>
          <p:cNvSpPr/>
          <p:nvPr/>
        </p:nvSpPr>
        <p:spPr>
          <a:xfrm>
            <a:off x="7995741" y="1974056"/>
            <a:ext cx="3380284" cy="1987550"/>
          </a:xfrm>
          <a:prstGeom prst="roundRect">
            <a:avLst>
              <a:gd name="adj" fmla="val 4952"/>
            </a:avLst>
          </a:prstGeom>
          <a:solidFill>
            <a:srgbClr val="FFFFFF"/>
          </a:solidFill>
          <a:ln w="6350">
            <a:solidFill>
              <a:srgbClr val="DAD8CF"/>
            </a:solidFill>
            <a:prstDash val="solid"/>
          </a:ln>
        </p:spPr>
      </p:sp>
      <p:sp>
        <p:nvSpPr>
          <p:cNvPr id="11" name="Text 9"/>
          <p:cNvSpPr/>
          <p:nvPr/>
        </p:nvSpPr>
        <p:spPr>
          <a:xfrm>
            <a:off x="8252916" y="2231231"/>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Manipulado</a:t>
            </a:r>
            <a:endParaRPr lang="en-US" sz="2000" dirty="0"/>
          </a:p>
        </p:txBody>
      </p:sp>
      <p:sp>
        <p:nvSpPr>
          <p:cNvPr id="12" name="Text 10"/>
          <p:cNvSpPr/>
          <p:nvPr/>
        </p:nvSpPr>
        <p:spPr>
          <a:xfrm>
            <a:off x="8252916" y="263763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Los bytes firmados no coinciden con la firma, o el </a:t>
            </a:r>
            <a:r>
              <a:rPr lang="en-US" sz="1500" b="1" dirty="0">
                <a:solidFill>
                  <a:srgbClr val="4A5568"/>
                </a:solidFill>
                <a:latin typeface="IBM Plex Sans" pitchFamily="34" charset="0"/>
                <a:ea typeface="IBM Plex Sans" pitchFamily="34" charset="-122"/>
                <a:cs typeface="IBM Plex Sans" pitchFamily="34" charset="-120"/>
              </a:rPr>
              <a:t>/ByteRange</a:t>
            </a:r>
            <a:r>
              <a:rPr lang="en-US" sz="1500" dirty="0">
                <a:solidFill>
                  <a:srgbClr val="4A5568"/>
                </a:solidFill>
                <a:latin typeface="IBM Plex Sans" pitchFamily="34" charset="0"/>
                <a:ea typeface="IBM Plex Sans" pitchFamily="34" charset="-122"/>
                <a:cs typeface="IBM Plex Sans" pitchFamily="34" charset="-120"/>
              </a:rPr>
              <a:t> es hostil o inconsistente.</a:t>
            </a:r>
            <a:endParaRPr lang="en-US" sz="1500" dirty="0"/>
          </a:p>
        </p:txBody>
      </p:sp>
      <p:sp>
        <p:nvSpPr>
          <p:cNvPr id="13" name="Text 11"/>
          <p:cNvSpPr/>
          <p:nvPr/>
        </p:nvSpPr>
        <p:spPr>
          <a:xfrm>
            <a:off x="812800" y="4269581"/>
            <a:ext cx="981075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Con varias firmas, cada una se evalúa por separado. La integridad de la firma es independiente de la validez del certificado.</a:t>
            </a:r>
            <a:endParaRPr lang="en-US" sz="1600" dirty="0"/>
          </a:p>
        </p:txBody>
      </p:sp>
      <p:sp>
        <p:nvSpPr>
          <p:cNvPr id="14" name="Text 1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VEREDICTO</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Una conclusión por firma, con sus motivos</a:t>
            </a:r>
            <a:endParaRPr lang="en-US" sz="3600" dirty="0"/>
          </a:p>
        </p:txBody>
      </p:sp>
      <p:sp>
        <p:nvSpPr>
          <p:cNvPr id="4" name="Shape 2"/>
          <p:cNvSpPr/>
          <p:nvPr/>
        </p:nvSpPr>
        <p:spPr>
          <a:xfrm>
            <a:off x="815975" y="1974056"/>
            <a:ext cx="4260850" cy="2807593"/>
          </a:xfrm>
          <a:prstGeom prst="roundRect">
            <a:avLst>
              <a:gd name="adj" fmla="val 3506"/>
            </a:avLst>
          </a:prstGeom>
          <a:solidFill>
            <a:srgbClr val="FFFFFF"/>
          </a:solidFill>
          <a:ln w="6350">
            <a:solidFill>
              <a:srgbClr val="DAD8CF"/>
            </a:solidFill>
            <a:prstDash val="solid"/>
          </a:ln>
        </p:spPr>
      </p:sp>
      <p:sp>
        <p:nvSpPr>
          <p:cNvPr id="5" name="Text 3"/>
          <p:cNvSpPr/>
          <p:nvPr/>
        </p:nvSpPr>
        <p:spPr>
          <a:xfrm>
            <a:off x="1098550" y="2256631"/>
            <a:ext cx="3806571"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4A5568"/>
                </a:solidFill>
                <a:latin typeface="IBM Plex Sans" pitchFamily="34" charset="0"/>
                <a:ea typeface="IBM Plex Sans" pitchFamily="34" charset="-122"/>
                <a:cs typeface="IBM Plex Sans" pitchFamily="34" charset="-120"/>
              </a:rPr>
              <a:t>Se combinan</a:t>
            </a:r>
            <a:endParaRPr lang="en-US" sz="1800" dirty="0"/>
          </a:p>
        </p:txBody>
      </p:sp>
      <p:sp>
        <p:nvSpPr>
          <p:cNvPr id="6" name="Text 4"/>
          <p:cNvSpPr/>
          <p:nvPr/>
        </p:nvSpPr>
        <p:spPr>
          <a:xfrm>
            <a:off x="1098550" y="2657872"/>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Integridad de la firma</a:t>
            </a:r>
            <a:endParaRPr lang="en-US" sz="1800" dirty="0"/>
          </a:p>
        </p:txBody>
      </p:sp>
      <p:sp>
        <p:nvSpPr>
          <p:cNvPr id="7" name="Text 5"/>
          <p:cNvSpPr/>
          <p:nvPr/>
        </p:nvSpPr>
        <p:spPr>
          <a:xfrm>
            <a:off x="1098550" y="3104852"/>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Cadena de confianza</a:t>
            </a:r>
            <a:endParaRPr lang="en-US" sz="1800" dirty="0"/>
          </a:p>
        </p:txBody>
      </p:sp>
      <p:sp>
        <p:nvSpPr>
          <p:cNvPr id="8" name="Text 6"/>
          <p:cNvSpPr/>
          <p:nvPr/>
        </p:nvSpPr>
        <p:spPr>
          <a:xfrm>
            <a:off x="1098550" y="3551833"/>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Revocación (si se solicita)</a:t>
            </a:r>
            <a:endParaRPr lang="en-US" sz="1800" dirty="0"/>
          </a:p>
        </p:txBody>
      </p:sp>
      <p:sp>
        <p:nvSpPr>
          <p:cNvPr id="9" name="Text 7"/>
          <p:cNvSpPr/>
          <p:nvPr/>
        </p:nvSpPr>
        <p:spPr>
          <a:xfrm>
            <a:off x="5283200" y="3093343"/>
            <a:ext cx="487680" cy="594320"/>
          </a:xfrm>
          <a:prstGeom prst="rect">
            <a:avLst/>
          </a:prstGeom>
          <a:noFill/>
          <a:ln/>
        </p:spPr>
        <p:txBody>
          <a:bodyPr wrap="square" lIns="0" tIns="0" rIns="0" bIns="0" rtlCol="0" anchor="t">
            <a:normAutofit/>
          </a:bodyPr>
          <a:lstStyle/>
          <a:p>
            <a:pPr algn="l" indent="0" marL="0">
              <a:lnSpc>
                <a:spcPts val="4480"/>
              </a:lnSpc>
              <a:buNone/>
            </a:pPr>
            <a:r>
              <a:rPr lang="en-US" sz="3200" dirty="0">
                <a:solidFill>
                  <a:srgbClr val="1F7A6D"/>
                </a:solidFill>
                <a:latin typeface="IBM Plex Sans" pitchFamily="34" charset="0"/>
                <a:ea typeface="IBM Plex Sans" pitchFamily="34" charset="-122"/>
                <a:cs typeface="IBM Plex Sans" pitchFamily="34" charset="-120"/>
              </a:rPr>
              <a:t>→</a:t>
            </a:r>
            <a:endParaRPr lang="en-US" sz="3200" dirty="0"/>
          </a:p>
        </p:txBody>
      </p:sp>
      <p:sp>
        <p:nvSpPr>
          <p:cNvPr id="10" name="Shape 8"/>
          <p:cNvSpPr/>
          <p:nvPr/>
        </p:nvSpPr>
        <p:spPr>
          <a:xfrm>
            <a:off x="5892800" y="1970881"/>
            <a:ext cx="5486400" cy="2813943"/>
          </a:xfrm>
          <a:prstGeom prst="roundRect">
            <a:avLst>
              <a:gd name="adj" fmla="val 3611"/>
            </a:avLst>
          </a:prstGeom>
          <a:solidFill>
            <a:srgbClr val="14213D"/>
          </a:solidFill>
          <a:ln/>
        </p:spPr>
      </p:sp>
      <p:sp>
        <p:nvSpPr>
          <p:cNvPr id="11" name="Text 9"/>
          <p:cNvSpPr/>
          <p:nvPr/>
        </p:nvSpPr>
        <p:spPr>
          <a:xfrm>
            <a:off x="6172200" y="2250281"/>
            <a:ext cx="507542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6CC5B5"/>
                </a:solidFill>
                <a:latin typeface="IBM Plex Sans" pitchFamily="34" charset="0"/>
                <a:ea typeface="IBM Plex Sans" pitchFamily="34" charset="-122"/>
                <a:cs typeface="IBM Plex Sans" pitchFamily="34" charset="-120"/>
              </a:rPr>
              <a:t>Se obtiene</a:t>
            </a:r>
            <a:endParaRPr lang="en-US" sz="1800" dirty="0"/>
          </a:p>
        </p:txBody>
      </p:sp>
      <p:sp>
        <p:nvSpPr>
          <p:cNvPr id="12" name="Text 10"/>
          <p:cNvSpPr/>
          <p:nvPr/>
        </p:nvSpPr>
        <p:spPr>
          <a:xfrm>
            <a:off x="6172200" y="2651522"/>
            <a:ext cx="5075428"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Válida</a:t>
            </a:r>
            <a:r>
              <a:rPr lang="en-US" sz="1800" dirty="0">
                <a:solidFill>
                  <a:srgbClr val="F6F5F0"/>
                </a:solidFill>
                <a:latin typeface="IBM Plex Sans" pitchFamily="34" charset="0"/>
                <a:ea typeface="IBM Plex Sans" pitchFamily="34" charset="-122"/>
                <a:cs typeface="IBM Plex Sans" pitchFamily="34" charset="-120"/>
              </a:rPr>
              <a:t>: integridad y confianza correctas.</a:t>
            </a:r>
            <a:endParaRPr lang="en-US" sz="1800" dirty="0"/>
          </a:p>
        </p:txBody>
      </p:sp>
      <p:sp>
        <p:nvSpPr>
          <p:cNvPr id="13" name="Text 11"/>
          <p:cNvSpPr/>
          <p:nvPr/>
        </p:nvSpPr>
        <p:spPr>
          <a:xfrm>
            <a:off x="6172200" y="3098502"/>
            <a:ext cx="5075428" cy="665361"/>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No admitida</a:t>
            </a:r>
            <a:r>
              <a:rPr lang="en-US" sz="1800" dirty="0">
                <a:solidFill>
                  <a:srgbClr val="F6F5F0"/>
                </a:solidFill>
                <a:latin typeface="IBM Plex Sans" pitchFamily="34" charset="0"/>
                <a:ea typeface="IBM Plex Sans" pitchFamily="34" charset="-122"/>
                <a:cs typeface="IBM Plex Sans" pitchFamily="34" charset="-120"/>
              </a:rPr>
              <a:t>: no se puede dar por buena, con su motivo.</a:t>
            </a:r>
            <a:endParaRPr lang="en-US" sz="1800" dirty="0"/>
          </a:p>
        </p:txBody>
      </p:sp>
      <p:sp>
        <p:nvSpPr>
          <p:cNvPr id="14" name="Text 12"/>
          <p:cNvSpPr/>
          <p:nvPr/>
        </p:nvSpPr>
        <p:spPr>
          <a:xfrm>
            <a:off x="6172200" y="3865463"/>
            <a:ext cx="5075428" cy="665361"/>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No válida</a:t>
            </a:r>
            <a:r>
              <a:rPr lang="en-US" sz="1800" dirty="0">
                <a:solidFill>
                  <a:srgbClr val="F6F5F0"/>
                </a:solidFill>
                <a:latin typeface="IBM Plex Sans" pitchFamily="34" charset="0"/>
                <a:ea typeface="IBM Plex Sans" pitchFamily="34" charset="-122"/>
                <a:cs typeface="IBM Plex Sans" pitchFamily="34" charset="-120"/>
              </a:rPr>
              <a:t>: firma inválida o documento modificado.</a:t>
            </a:r>
            <a:endParaRPr lang="en-US" sz="1800" dirty="0"/>
          </a:p>
        </p:txBody>
      </p:sp>
      <p:sp>
        <p:nvSpPr>
          <p:cNvPr id="15" name="Text 13"/>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INTERFAZ WEB</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Dos pantallas, sin frameworks</a:t>
            </a:r>
            <a:endParaRPr lang="en-US" sz="3600" dirty="0"/>
          </a:p>
        </p:txBody>
      </p:sp>
      <p:sp>
        <p:nvSpPr>
          <p:cNvPr id="4" name="Shape 2"/>
          <p:cNvSpPr/>
          <p:nvPr/>
        </p:nvSpPr>
        <p:spPr>
          <a:xfrm>
            <a:off x="815975" y="1974056"/>
            <a:ext cx="5175250" cy="2266851"/>
          </a:xfrm>
          <a:prstGeom prst="roundRect">
            <a:avLst>
              <a:gd name="adj" fmla="val 4342"/>
            </a:avLst>
          </a:prstGeom>
          <a:solidFill>
            <a:srgbClr val="FFFFFF"/>
          </a:solidFill>
          <a:ln w="6350">
            <a:solidFill>
              <a:srgbClr val="DAD8CF"/>
            </a:solidFill>
            <a:prstDash val="solid"/>
          </a:ln>
        </p:spPr>
      </p:sp>
      <p:sp>
        <p:nvSpPr>
          <p:cNvPr id="5" name="Text 3"/>
          <p:cNvSpPr/>
          <p:nvPr/>
        </p:nvSpPr>
        <p:spPr>
          <a:xfrm>
            <a:off x="1098550" y="2256631"/>
            <a:ext cx="474840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IBM Plex Sans" pitchFamily="34" charset="0"/>
                <a:ea typeface="IBM Plex Sans" pitchFamily="34" charset="-122"/>
                <a:cs typeface="IBM Plex Sans" pitchFamily="34" charset="-120"/>
              </a:rPr>
              <a:t>Validar</a:t>
            </a:r>
            <a:endParaRPr lang="en-US" sz="2200" dirty="0"/>
          </a:p>
        </p:txBody>
      </p:sp>
      <p:sp>
        <p:nvSpPr>
          <p:cNvPr id="6" name="Text 4"/>
          <p:cNvSpPr/>
          <p:nvPr/>
        </p:nvSpPr>
        <p:spPr>
          <a:xfrm>
            <a:off x="1098550" y="2706191"/>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Arrastra un PDF de hasta 80 MB y obtén el informe con el veredicto por firma.</a:t>
            </a:r>
            <a:endParaRPr lang="en-US" sz="1600" dirty="0"/>
          </a:p>
        </p:txBody>
      </p:sp>
      <p:sp>
        <p:nvSpPr>
          <p:cNvPr id="7" name="Text 5"/>
          <p:cNvSpPr/>
          <p:nvPr/>
        </p:nvSpPr>
        <p:spPr>
          <a:xfrm>
            <a:off x="1098550" y="3389412"/>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Casilla opcional para comprobar la revocación (OCSP/CRL).</a:t>
            </a:r>
            <a:endParaRPr lang="en-US" sz="1600" dirty="0"/>
          </a:p>
        </p:txBody>
      </p:sp>
      <p:sp>
        <p:nvSpPr>
          <p:cNvPr id="8" name="Shape 6"/>
          <p:cNvSpPr/>
          <p:nvPr/>
        </p:nvSpPr>
        <p:spPr>
          <a:xfrm>
            <a:off x="6200775" y="1974056"/>
            <a:ext cx="5175250" cy="2266851"/>
          </a:xfrm>
          <a:prstGeom prst="roundRect">
            <a:avLst>
              <a:gd name="adj" fmla="val 4342"/>
            </a:avLst>
          </a:prstGeom>
          <a:solidFill>
            <a:srgbClr val="FFFFFF"/>
          </a:solidFill>
          <a:ln w="6350">
            <a:solidFill>
              <a:srgbClr val="DAD8CF"/>
            </a:solidFill>
            <a:prstDash val="solid"/>
          </a:ln>
        </p:spPr>
      </p:sp>
      <p:sp>
        <p:nvSpPr>
          <p:cNvPr id="9" name="Text 7"/>
          <p:cNvSpPr/>
          <p:nvPr/>
        </p:nvSpPr>
        <p:spPr>
          <a:xfrm>
            <a:off x="6483350" y="2256631"/>
            <a:ext cx="474840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IBM Plex Sans" pitchFamily="34" charset="0"/>
                <a:ea typeface="IBM Plex Sans" pitchFamily="34" charset="-122"/>
                <a:cs typeface="IBM Plex Sans" pitchFamily="34" charset="-120"/>
              </a:rPr>
              <a:t>Firmar</a:t>
            </a:r>
            <a:endParaRPr lang="en-US" sz="2200" dirty="0"/>
          </a:p>
        </p:txBody>
      </p:sp>
      <p:sp>
        <p:nvSpPr>
          <p:cNvPr id="10" name="Text 8"/>
          <p:cNvSpPr/>
          <p:nvPr/>
        </p:nvSpPr>
        <p:spPr>
          <a:xfrm>
            <a:off x="6483350" y="2706191"/>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Firma PAdES con AutoFirma en el equipo del usuario.</a:t>
            </a:r>
            <a:endParaRPr lang="en-US" sz="1600" dirty="0"/>
          </a:p>
        </p:txBody>
      </p:sp>
      <p:sp>
        <p:nvSpPr>
          <p:cNvPr id="11" name="Text 9"/>
          <p:cNvSpPr/>
          <p:nvPr/>
        </p:nvSpPr>
        <p:spPr>
          <a:xfrm>
            <a:off x="6483350" y="3389412"/>
            <a:ext cx="4748403"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La clave privada nunca sale de su equipo</a:t>
            </a:r>
            <a:r>
              <a:rPr lang="en-US" sz="1600" dirty="0">
                <a:solidFill>
                  <a:srgbClr val="4A5568"/>
                </a:solidFill>
                <a:latin typeface="IBM Plex Sans" pitchFamily="34" charset="0"/>
                <a:ea typeface="IBM Plex Sans" pitchFamily="34" charset="-122"/>
                <a:cs typeface="IBM Plex Sans" pitchFamily="34" charset="-120"/>
              </a:rPr>
              <a:t>, y el resultado se valida con un clic.</a:t>
            </a:r>
            <a:endParaRPr lang="en-US" sz="1600" dirty="0"/>
          </a:p>
        </p:txBody>
      </p:sp>
      <p:sp>
        <p:nvSpPr>
          <p:cNvPr id="12" name="Text 10"/>
          <p:cNvSpPr/>
          <p:nvPr/>
        </p:nvSpPr>
        <p:spPr>
          <a:xfrm>
            <a:off x="812800" y="4548882"/>
            <a:ext cx="981075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HTML, CSS y JavaScript nativo. Tema claro y oscuro, cabecera CSP y sin CDNs.</a:t>
            </a:r>
            <a:endParaRPr lang="en-US" sz="1600" dirty="0"/>
          </a:p>
        </p:txBody>
      </p:sp>
      <p:sp>
        <p:nvSpPr>
          <p:cNvPr id="13" name="Text 11"/>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VALIDAR, EN LA APLICACIÓN</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El mismo contrato, antes y después de tocarlo</a:t>
            </a:r>
            <a:endParaRPr lang="en-US" sz="3600" dirty="0"/>
          </a:p>
        </p:txBody>
      </p:sp>
      <p:sp>
        <p:nvSpPr>
          <p:cNvPr id="4" name="Shape 2"/>
          <p:cNvSpPr/>
          <p:nvPr/>
        </p:nvSpPr>
        <p:spPr>
          <a:xfrm>
            <a:off x="812800" y="1970881"/>
            <a:ext cx="5181600" cy="3175000"/>
          </a:xfrm>
          <a:prstGeom prst="roundRect">
            <a:avLst>
              <a:gd name="adj" fmla="val 3200"/>
            </a:avLst>
          </a:prstGeom>
          <a:solidFill>
            <a:srgbClr val="FFFFFF"/>
          </a:solidFill>
          <a:ln/>
        </p:spPr>
      </p:sp>
      <p:pic>
        <p:nvPicPr>
          <p:cNvPr id="5" name="Image 0" descr="Resultado de Validar: banner verde «Firma válida», tarjeta de la firma de Ana García (demo) con sello de tiempo de confianza, integridad íntegra, cadena de confianza y fecha declarada marcada como no verificada">    </p:cNvPr>
          <p:cNvPicPr>
            <a:picLocks noChangeAspect="1"/>
          </p:cNvPicPr>
          <p:nvPr/>
        </p:nvPicPr>
        <p:blipFill>
          <a:blip r:embed="rId1"/>
          <a:stretch>
            <a:fillRect/>
          </a:stretch>
        </p:blipFill>
        <p:spPr>
          <a:xfrm>
            <a:off x="819150" y="2062558"/>
            <a:ext cx="5168900" cy="2991646"/>
          </a:xfrm>
          <a:custGeom>
            <a:avLst/>
            <a:gdLst/>
            <a:ahLst/>
            <a:cxnLst/>
            <a:rect l="l" t="t" r="r" b="b"/>
            <a:pathLst>
              <a:path w="5168900" h="2991646">
                <a:moveTo>
                  <a:pt x="0" y="9923"/>
                </a:moveTo>
                <a:arcTo wR="95250" hR="95250" stAng="10800000" swAng="358796"/>
                <a:lnTo>
                  <a:pt x="5168382" y="0"/>
                </a:lnTo>
                <a:arcTo wR="95250" hR="95250" stAng="21241204" swAng="358796"/>
                <a:lnTo>
                  <a:pt x="5168900" y="2981723"/>
                </a:lnTo>
                <a:arcTo wR="95250" hR="95250" stAng="0" swAng="358796"/>
                <a:lnTo>
                  <a:pt x="518" y="2991646"/>
                </a:lnTo>
                <a:arcTo wR="95250" hR="95250" stAng="10441204" swAng="358796"/>
                <a:close/>
              </a:path>
            </a:pathLst>
          </a:custGeom>
        </p:spPr>
      </p:pic>
      <p:sp>
        <p:nvSpPr>
          <p:cNvPr id="6" name="Shape 3"/>
          <p:cNvSpPr/>
          <p:nvPr/>
        </p:nvSpPr>
        <p:spPr>
          <a:xfrm>
            <a:off x="815975" y="1974056"/>
            <a:ext cx="5175250" cy="3168650"/>
          </a:xfrm>
          <a:prstGeom prst="roundRect">
            <a:avLst>
              <a:gd name="adj" fmla="val 3106"/>
            </a:avLst>
          </a:prstGeom>
          <a:noFill/>
          <a:ln w="6350">
            <a:solidFill>
              <a:srgbClr val="DAD8CF"/>
            </a:solidFill>
            <a:prstDash val="solid"/>
          </a:ln>
        </p:spPr>
      </p:sp>
      <p:sp>
        <p:nvSpPr>
          <p:cNvPr id="7" name="Text 4"/>
          <p:cNvSpPr/>
          <p:nvPr/>
        </p:nvSpPr>
        <p:spPr>
          <a:xfrm>
            <a:off x="812800" y="5247481"/>
            <a:ext cx="533704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7A6D"/>
                </a:solidFill>
                <a:latin typeface="IBM Plex Sans" pitchFamily="34" charset="0"/>
                <a:ea typeface="IBM Plex Sans" pitchFamily="34" charset="-122"/>
                <a:cs typeface="IBM Plex Sans" pitchFamily="34" charset="-120"/>
              </a:rPr>
              <a:t>Firma válida</a:t>
            </a:r>
            <a:r>
              <a:rPr lang="en-US" sz="1400" dirty="0">
                <a:solidFill>
                  <a:srgbClr val="4A5568"/>
                </a:solidFill>
                <a:latin typeface="IBM Plex Sans" pitchFamily="34" charset="0"/>
                <a:ea typeface="IBM Plex Sans" pitchFamily="34" charset="-122"/>
                <a:cs typeface="IBM Plex Sans" pitchFamily="34" charset="-120"/>
              </a:rPr>
              <a:t>: íntegra, con sello de tiempo de confianza y cadena de confianza.</a:t>
            </a:r>
            <a:endParaRPr lang="en-US" sz="1400" dirty="0"/>
          </a:p>
        </p:txBody>
      </p:sp>
      <p:sp>
        <p:nvSpPr>
          <p:cNvPr id="8" name="Shape 5"/>
          <p:cNvSpPr/>
          <p:nvPr/>
        </p:nvSpPr>
        <p:spPr>
          <a:xfrm>
            <a:off x="6197600" y="1970881"/>
            <a:ext cx="5181600" cy="3175000"/>
          </a:xfrm>
          <a:prstGeom prst="roundRect">
            <a:avLst>
              <a:gd name="adj" fmla="val 3200"/>
            </a:avLst>
          </a:prstGeom>
          <a:solidFill>
            <a:srgbClr val="FFFFFF"/>
          </a:solidFill>
          <a:ln/>
        </p:spPr>
      </p:sp>
      <p:pic>
        <p:nvPicPr>
          <p:cNvPr id="9" name="Image 1" descr="Resultado de Validar: banner rojo «Firma inválida», el documento se modificó después de la última firma; integridad «Modificado tras la firma» y 3 revisiones, con las páginas agrupadas por tamaño">    </p:cNvPr>
          <p:cNvPicPr>
            <a:picLocks noChangeAspect="1"/>
          </p:cNvPicPr>
          <p:nvPr/>
        </p:nvPicPr>
        <p:blipFill>
          <a:blip r:embed="rId2"/>
          <a:stretch>
            <a:fillRect/>
          </a:stretch>
        </p:blipFill>
        <p:spPr>
          <a:xfrm>
            <a:off x="6203950" y="2007157"/>
            <a:ext cx="5168900" cy="3102448"/>
          </a:xfrm>
          <a:custGeom>
            <a:avLst/>
            <a:gdLst/>
            <a:ahLst/>
            <a:cxnLst/>
            <a:rect l="l" t="t" r="r" b="b"/>
            <a:pathLst>
              <a:path w="5168900" h="3102448">
                <a:moveTo>
                  <a:pt x="0" y="65324"/>
                </a:moveTo>
                <a:arcTo wR="95250" hR="95250" stAng="10800000" swAng="2597991"/>
                <a:lnTo>
                  <a:pt x="5142971" y="0"/>
                </a:lnTo>
                <a:arcTo wR="95250" hR="95250" stAng="19002009" swAng="2597991"/>
                <a:lnTo>
                  <a:pt x="5168900" y="3037124"/>
                </a:lnTo>
                <a:arcTo wR="95250" hR="95250" stAng="0" swAng="2597991"/>
                <a:lnTo>
                  <a:pt x="25929" y="3102448"/>
                </a:lnTo>
                <a:arcTo wR="95250" hR="95250" stAng="8202009" swAng="2597991"/>
                <a:close/>
              </a:path>
            </a:pathLst>
          </a:custGeom>
        </p:spPr>
      </p:pic>
      <p:sp>
        <p:nvSpPr>
          <p:cNvPr id="10" name="Shape 6"/>
          <p:cNvSpPr/>
          <p:nvPr/>
        </p:nvSpPr>
        <p:spPr>
          <a:xfrm>
            <a:off x="6200775" y="1974056"/>
            <a:ext cx="5175250" cy="3168650"/>
          </a:xfrm>
          <a:prstGeom prst="roundRect">
            <a:avLst>
              <a:gd name="adj" fmla="val 3106"/>
            </a:avLst>
          </a:prstGeom>
          <a:noFill/>
          <a:ln w="6350">
            <a:solidFill>
              <a:srgbClr val="DAD8CF"/>
            </a:solidFill>
            <a:prstDash val="solid"/>
          </a:ln>
        </p:spPr>
      </p:sp>
      <p:sp>
        <p:nvSpPr>
          <p:cNvPr id="11" name="Text 7"/>
          <p:cNvSpPr/>
          <p:nvPr/>
        </p:nvSpPr>
        <p:spPr>
          <a:xfrm>
            <a:off x="6197600" y="5247481"/>
            <a:ext cx="533704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B3261E"/>
                </a:solidFill>
                <a:latin typeface="IBM Plex Sans" pitchFamily="34" charset="0"/>
                <a:ea typeface="IBM Plex Sans" pitchFamily="34" charset="-122"/>
                <a:cs typeface="IBM Plex Sans" pitchFamily="34" charset="-120"/>
              </a:rPr>
              <a:t>Firma inválida</a:t>
            </a:r>
            <a:r>
              <a:rPr lang="en-US" sz="1400" dirty="0">
                <a:solidFill>
                  <a:srgbClr val="4A5568"/>
                </a:solidFill>
                <a:latin typeface="IBM Plex Sans" pitchFamily="34" charset="0"/>
                <a:ea typeface="IBM Plex Sans" pitchFamily="34" charset="-122"/>
                <a:cs typeface="IBM Plex Sans" pitchFamily="34" charset="-120"/>
              </a:rPr>
              <a:t>: una actualización posterior cambió el documento.</a:t>
            </a:r>
            <a:endParaRPr lang="en-US" sz="1400" dirty="0"/>
          </a:p>
        </p:txBody>
      </p:sp>
      <p:sp>
        <p:nvSpPr>
          <p:cNvPr id="12" name="Text 8"/>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037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EL DOCUMENTO, DE UN VISTAZO</a:t>
            </a:r>
            <a:endParaRPr lang="en-US" sz="1400" dirty="0"/>
          </a:p>
        </p:txBody>
      </p:sp>
      <p:sp>
        <p:nvSpPr>
          <p:cNvPr id="3" name="Text 1"/>
          <p:cNvSpPr/>
          <p:nvPr>
            <p:ph type="title"/>
          </p:nvPr>
        </p:nvSpPr>
        <p:spPr>
          <a:xfrm>
            <a:off x="812800" y="1159371"/>
            <a:ext cx="10883392" cy="520402"/>
          </a:xfrm>
          <a:prstGeom prst="rect">
            <a:avLst/>
          </a:prstGeom>
          <a:noFill/>
          <a:ln/>
        </p:spPr>
        <p:txBody>
          <a:bodyPr wrap="square" lIns="0" tIns="0" rIns="0" bIns="0" rtlCol="0" anchor="t">
            <a:normAutofit/>
          </a:bodyPr>
          <a:lstStyle/>
          <a:p>
            <a:pPr algn="l" indent="0" marL="0">
              <a:lnSpc>
                <a:spcPts val="3923"/>
              </a:lnSpc>
              <a:buNone/>
            </a:pPr>
            <a:r>
              <a:rPr lang="en-US" sz="3566" b="1" i="0" dirty="0">
                <a:solidFill>
                  <a:srgbClr val="14213D"/>
                </a:solidFill>
                <a:latin typeface="Source Serif 4" pitchFamily="18" charset="0"/>
                <a:ea typeface="Source Serif 4" pitchFamily="18" charset="-122"/>
                <a:cs typeface="Source Serif 4" pitchFamily="18" charset="-120"/>
              </a:rPr>
              <a:t>Páginas agrupadas y recortes a la vista</a:t>
            </a:r>
            <a:endParaRPr lang="en-US" sz="3566" dirty="0"/>
          </a:p>
        </p:txBody>
      </p:sp>
      <p:sp>
        <p:nvSpPr>
          <p:cNvPr id="4" name="Shape 2"/>
          <p:cNvSpPr/>
          <p:nvPr/>
        </p:nvSpPr>
        <p:spPr>
          <a:xfrm>
            <a:off x="812800" y="1959173"/>
            <a:ext cx="2984500" cy="3937000"/>
          </a:xfrm>
          <a:prstGeom prst="roundRect">
            <a:avLst>
              <a:gd name="adj" fmla="val 3404"/>
            </a:avLst>
          </a:prstGeom>
          <a:solidFill>
            <a:srgbClr val="FFFFFF"/>
          </a:solidFill>
          <a:ln/>
        </p:spPr>
      </p:sp>
      <p:pic>
        <p:nvPicPr>
          <p:cNvPr id="5" name="Image 0" descr="Tarjetas Estructura del documento y Recortes: tres grupos de páginas (2 páginas A4 vertical 0°, 1 página A4 horizontal 90°, 1 página A3 horizontal 0°) con sus números, y la página 4 con su recorte por cada lado">    </p:cNvPr>
          <p:cNvPicPr>
            <a:picLocks noChangeAspect="1"/>
          </p:cNvPicPr>
          <p:nvPr/>
        </p:nvPicPr>
        <p:blipFill>
          <a:blip r:embed="rId1"/>
          <a:srcRect l="0" r="0" t="-156" b="-156"/>
          <a:stretch/>
        </p:blipFill>
        <p:spPr>
          <a:xfrm>
            <a:off x="819150" y="1965523"/>
            <a:ext cx="2971800" cy="3924300"/>
          </a:xfrm>
          <a:prstGeom prst="roundRect">
            <a:avLst>
              <a:gd name="adj" fmla="val 3205"/>
            </a:avLst>
          </a:prstGeom>
        </p:spPr>
      </p:pic>
      <p:sp>
        <p:nvSpPr>
          <p:cNvPr id="6" name="Shape 3"/>
          <p:cNvSpPr/>
          <p:nvPr/>
        </p:nvSpPr>
        <p:spPr>
          <a:xfrm>
            <a:off x="815975" y="1962348"/>
            <a:ext cx="2978150" cy="3930650"/>
          </a:xfrm>
          <a:prstGeom prst="roundRect">
            <a:avLst>
              <a:gd name="adj" fmla="val 3305"/>
            </a:avLst>
          </a:prstGeom>
          <a:noFill/>
          <a:ln w="6350">
            <a:solidFill>
              <a:srgbClr val="DAD8CF"/>
            </a:solidFill>
            <a:prstDash val="solid"/>
          </a:ln>
        </p:spPr>
      </p:sp>
      <p:sp>
        <p:nvSpPr>
          <p:cNvPr id="7" name="Shape 4"/>
          <p:cNvSpPr/>
          <p:nvPr/>
        </p:nvSpPr>
        <p:spPr>
          <a:xfrm>
            <a:off x="4105275" y="1962348"/>
            <a:ext cx="7270750" cy="1347391"/>
          </a:xfrm>
          <a:prstGeom prst="roundRect">
            <a:avLst>
              <a:gd name="adj" fmla="val 7305"/>
            </a:avLst>
          </a:prstGeom>
          <a:solidFill>
            <a:srgbClr val="FFFFFF"/>
          </a:solidFill>
          <a:ln w="6350">
            <a:solidFill>
              <a:srgbClr val="DAD8CF"/>
            </a:solidFill>
            <a:prstDash val="solid"/>
          </a:ln>
        </p:spPr>
      </p:sp>
      <p:sp>
        <p:nvSpPr>
          <p:cNvPr id="8" name="Text 5"/>
          <p:cNvSpPr/>
          <p:nvPr/>
        </p:nvSpPr>
        <p:spPr>
          <a:xfrm>
            <a:off x="4337050" y="2194123"/>
            <a:ext cx="701141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Páginas agrupadas</a:t>
            </a:r>
            <a:endParaRPr lang="en-US" sz="1800" dirty="0"/>
          </a:p>
        </p:txBody>
      </p:sp>
      <p:sp>
        <p:nvSpPr>
          <p:cNvPr id="9" name="Text 6"/>
          <p:cNvSpPr/>
          <p:nvPr/>
        </p:nvSpPr>
        <p:spPr>
          <a:xfrm>
            <a:off x="4337050" y="2544564"/>
            <a:ext cx="70114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Las páginas con el mismo tamaño y la misma rotación forman un grupo plegado. Al abrirlo aparecen sus números en rangos, como «1–12, 15».</a:t>
            </a:r>
            <a:endParaRPr lang="en-US" sz="1500" dirty="0"/>
          </a:p>
        </p:txBody>
      </p:sp>
      <p:sp>
        <p:nvSpPr>
          <p:cNvPr id="10" name="Shape 7"/>
          <p:cNvSpPr/>
          <p:nvPr/>
        </p:nvSpPr>
        <p:spPr>
          <a:xfrm>
            <a:off x="4105275" y="3493889"/>
            <a:ext cx="7270750" cy="1347391"/>
          </a:xfrm>
          <a:prstGeom prst="roundRect">
            <a:avLst>
              <a:gd name="adj" fmla="val 7305"/>
            </a:avLst>
          </a:prstGeom>
          <a:solidFill>
            <a:srgbClr val="FFFFFF"/>
          </a:solidFill>
          <a:ln w="6350">
            <a:solidFill>
              <a:srgbClr val="DAD8CF"/>
            </a:solidFill>
            <a:prstDash val="solid"/>
          </a:ln>
        </p:spPr>
      </p:sp>
      <p:sp>
        <p:nvSpPr>
          <p:cNvPr id="11" name="Text 8"/>
          <p:cNvSpPr/>
          <p:nvPr/>
        </p:nvSpPr>
        <p:spPr>
          <a:xfrm>
            <a:off x="4337050" y="3725664"/>
            <a:ext cx="701141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Recortes</a:t>
            </a:r>
            <a:endParaRPr lang="en-US" sz="1800" dirty="0"/>
          </a:p>
        </p:txBody>
      </p:sp>
      <p:sp>
        <p:nvSpPr>
          <p:cNvPr id="12" name="Text 9"/>
          <p:cNvSpPr/>
          <p:nvPr/>
        </p:nvSpPr>
        <p:spPr>
          <a:xfrm>
            <a:off x="4337050" y="4076105"/>
            <a:ext cx="70114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Solo se listan las páginas cuya zona visible (CropBox) no coincide con la página completa, con lo que se recorta por cada lado.</a:t>
            </a:r>
            <a:endParaRPr lang="en-US" sz="1500" dirty="0"/>
          </a:p>
        </p:txBody>
      </p:sp>
      <p:sp>
        <p:nvSpPr>
          <p:cNvPr id="13" name="Text 10"/>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FIRMAR, EN LA APLICACIÓN</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Firma con AutoFirma sin salir del navegador</a:t>
            </a:r>
            <a:endParaRPr lang="en-US" sz="3600" dirty="0"/>
          </a:p>
        </p:txBody>
      </p:sp>
      <p:sp>
        <p:nvSpPr>
          <p:cNvPr id="4" name="Shape 2"/>
          <p:cNvSpPr/>
          <p:nvPr/>
        </p:nvSpPr>
        <p:spPr>
          <a:xfrm>
            <a:off x="812800" y="1970881"/>
            <a:ext cx="6223000" cy="3790950"/>
          </a:xfrm>
          <a:prstGeom prst="roundRect">
            <a:avLst>
              <a:gd name="adj" fmla="val 2680"/>
            </a:avLst>
          </a:prstGeom>
          <a:solidFill>
            <a:srgbClr val="FFFFFF"/>
          </a:solidFill>
          <a:ln/>
        </p:spPr>
      </p:sp>
      <p:pic>
        <p:nvPicPr>
          <p:cNvPr id="5" name="Image 0" descr="Pantalla Firmar: aviso de que la clave privada nunca sale del equipo, zona para soltar el PDF (hasta 80 MB), fichero seleccionado y campo opcional «Motivo de la firma»">    </p:cNvPr>
          <p:cNvPicPr>
            <a:picLocks noChangeAspect="1"/>
          </p:cNvPicPr>
          <p:nvPr/>
        </p:nvPicPr>
        <p:blipFill>
          <a:blip r:embed="rId1"/>
          <a:srcRect l="-81" r="-81" t="0" b="0"/>
          <a:stretch/>
        </p:blipFill>
        <p:spPr>
          <a:xfrm>
            <a:off x="819150" y="1977231"/>
            <a:ext cx="6210300" cy="3778250"/>
          </a:xfrm>
          <a:prstGeom prst="roundRect">
            <a:avLst>
              <a:gd name="adj" fmla="val 2521"/>
            </a:avLst>
          </a:prstGeom>
        </p:spPr>
      </p:pic>
      <p:sp>
        <p:nvSpPr>
          <p:cNvPr id="6" name="Shape 3"/>
          <p:cNvSpPr/>
          <p:nvPr/>
        </p:nvSpPr>
        <p:spPr>
          <a:xfrm>
            <a:off x="815975" y="1974056"/>
            <a:ext cx="6216650" cy="3784600"/>
          </a:xfrm>
          <a:prstGeom prst="roundRect">
            <a:avLst>
              <a:gd name="adj" fmla="val 2601"/>
            </a:avLst>
          </a:prstGeom>
          <a:noFill/>
          <a:ln w="6350">
            <a:solidFill>
              <a:srgbClr val="DAD8CF"/>
            </a:solidFill>
            <a:prstDash val="solid"/>
          </a:ln>
        </p:spPr>
      </p:sp>
      <p:sp>
        <p:nvSpPr>
          <p:cNvPr id="7" name="Text 4"/>
          <p:cNvSpPr/>
          <p:nvPr/>
        </p:nvSpPr>
        <p:spPr>
          <a:xfrm>
            <a:off x="7340600" y="1970881"/>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1. Se elige el PDF y, si se quiere, el motivo de la firma.</a:t>
            </a:r>
            <a:endParaRPr lang="en-US" sz="1600" dirty="0"/>
          </a:p>
        </p:txBody>
      </p:sp>
      <p:sp>
        <p:nvSpPr>
          <p:cNvPr id="8" name="Text 5"/>
          <p:cNvSpPr/>
          <p:nvPr/>
        </p:nvSpPr>
        <p:spPr>
          <a:xfrm>
            <a:off x="7340600" y="2717602"/>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2. AutoFirma abre su selector de certificado y firma en el equipo.</a:t>
            </a:r>
            <a:endParaRPr lang="en-US" sz="1600" dirty="0"/>
          </a:p>
        </p:txBody>
      </p:sp>
      <p:sp>
        <p:nvSpPr>
          <p:cNvPr id="9" name="Text 6"/>
          <p:cNvSpPr/>
          <p:nvPr/>
        </p:nvSpPr>
        <p:spPr>
          <a:xfrm>
            <a:off x="7340600" y="3464322"/>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 Se descarga el PDF firmado o se valida con un clic.</a:t>
            </a:r>
            <a:endParaRPr lang="en-US" sz="1600" dirty="0"/>
          </a:p>
        </p:txBody>
      </p:sp>
      <p:sp>
        <p:nvSpPr>
          <p:cNvPr id="10" name="Text 7"/>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STACK</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Java 25 y librerías estándar del ecosistema</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83581"/>
          <a:ext cx="10553700" cy="3074690"/>
        </p:xfrm>
        <a:graphic>
          <a:graphicData uri="http://schemas.openxmlformats.org/drawingml/2006/table">
            <a:tbl>
              <a:tblPr/>
              <a:tblGrid>
                <a:gridCol w="3166110"/>
                <a:gridCol w="4749165"/>
                <a:gridCol w="2638425"/>
              </a:tblGrid>
              <a:tr h="439241">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Área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Tecnología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Versión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Lenguaje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Java (LTS)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25</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Framework</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Spring Boot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4.1.1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Motor PDF y PDF/A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Apache PDFBox y preflight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3.0.8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Criptografía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Bouncy Castle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1.86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API</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springdoc (Swagger UI)</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3.1.1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Tests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JUnit 5, AssertJ, Mockito, ArchUnit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ArchUnit 1.5.1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CALIDAD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Cada cambio pasa por la integración continua</a:t>
            </a:r>
            <a:endParaRPr lang="en-US" sz="3600" dirty="0"/>
          </a:p>
        </p:txBody>
      </p:sp>
      <p:sp>
        <p:nvSpPr>
          <p:cNvPr id="4" name="Shape 2"/>
          <p:cNvSpPr/>
          <p:nvPr/>
        </p:nvSpPr>
        <p:spPr>
          <a:xfrm>
            <a:off x="815975" y="1974056"/>
            <a:ext cx="3621584" cy="2896791"/>
          </a:xfrm>
          <a:prstGeom prst="roundRect">
            <a:avLst>
              <a:gd name="adj" fmla="val 3398"/>
            </a:avLst>
          </a:prstGeom>
          <a:solidFill>
            <a:srgbClr val="1E2F55"/>
          </a:solidFill>
          <a:ln w="6350">
            <a:solidFill>
              <a:srgbClr val="3A4C78"/>
            </a:solidFill>
            <a:prstDash val="solid"/>
          </a:ln>
        </p:spPr>
      </p:sp>
      <p:sp>
        <p:nvSpPr>
          <p:cNvPr id="5" name="Text 3"/>
          <p:cNvSpPr/>
          <p:nvPr/>
        </p:nvSpPr>
        <p:spPr>
          <a:xfrm>
            <a:off x="1073150" y="2231231"/>
            <a:ext cx="3200451"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6CC5B5"/>
                </a:solidFill>
                <a:latin typeface="IBM Plex Sans" pitchFamily="34" charset="0"/>
                <a:ea typeface="IBM Plex Sans" pitchFamily="34" charset="-122"/>
                <a:cs typeface="IBM Plex Sans" pitchFamily="34" charset="-120"/>
              </a:rPr>
              <a:t>528</a:t>
            </a:r>
            <a:endParaRPr lang="en-US" sz="6000" dirty="0"/>
          </a:p>
        </p:txBody>
      </p:sp>
      <p:sp>
        <p:nvSpPr>
          <p:cNvPr id="6" name="Text 4"/>
          <p:cNvSpPr/>
          <p:nvPr/>
        </p:nvSpPr>
        <p:spPr>
          <a:xfrm>
            <a:off x="1073150" y="3044031"/>
            <a:ext cx="3200451" cy="848122"/>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tests automáticos, incluidos los de arquitectura con ArchUnit, con un 91 % de cobertura de líneas.</a:t>
            </a:r>
            <a:endParaRPr lang="en-US" sz="1600" dirty="0"/>
          </a:p>
        </p:txBody>
      </p:sp>
      <p:sp>
        <p:nvSpPr>
          <p:cNvPr id="7" name="Shape 5"/>
          <p:cNvSpPr/>
          <p:nvPr/>
        </p:nvSpPr>
        <p:spPr>
          <a:xfrm>
            <a:off x="4647109" y="1974056"/>
            <a:ext cx="6728916" cy="2896791"/>
          </a:xfrm>
          <a:prstGeom prst="roundRect">
            <a:avLst>
              <a:gd name="adj" fmla="val 3398"/>
            </a:avLst>
          </a:prstGeom>
          <a:solidFill>
            <a:srgbClr val="1E2F55"/>
          </a:solidFill>
          <a:ln w="6350">
            <a:solidFill>
              <a:srgbClr val="3A4C78"/>
            </a:solidFill>
            <a:prstDash val="solid"/>
          </a:ln>
        </p:spPr>
      </p:sp>
      <p:sp>
        <p:nvSpPr>
          <p:cNvPr id="8" name="Text 6"/>
          <p:cNvSpPr/>
          <p:nvPr/>
        </p:nvSpPr>
        <p:spPr>
          <a:xfrm>
            <a:off x="4904284" y="2231231"/>
            <a:ext cx="6401003"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Puertas en cada </a:t>
            </a:r>
            <a:r>
              <a:rPr lang="en-US" sz="1800" b="1" i="1" dirty="0">
                <a:solidFill>
                  <a:srgbClr val="F6F5F0"/>
                </a:solidFill>
                <a:latin typeface="IBM Plex Sans" pitchFamily="34" charset="0"/>
                <a:ea typeface="IBM Plex Sans" pitchFamily="34" charset="-122"/>
                <a:cs typeface="IBM Plex Sans" pitchFamily="34" charset="-120"/>
              </a:rPr>
              <a:t>push</a:t>
            </a:r>
            <a:r>
              <a:rPr lang="en-US" sz="1800" b="1" dirty="0">
                <a:solidFill>
                  <a:srgbClr val="F6F5F0"/>
                </a:solidFill>
                <a:latin typeface="IBM Plex Sans" pitchFamily="34" charset="0"/>
                <a:ea typeface="IBM Plex Sans" pitchFamily="34" charset="-122"/>
                <a:cs typeface="IBM Plex Sans" pitchFamily="34" charset="-120"/>
              </a:rPr>
              <a:t> (GitHub Actions)</a:t>
            </a:r>
            <a:endParaRPr lang="en-US" sz="1800" dirty="0"/>
          </a:p>
        </p:txBody>
      </p:sp>
      <p:sp>
        <p:nvSpPr>
          <p:cNvPr id="9" name="Text 7"/>
          <p:cNvSpPr/>
          <p:nvPr/>
        </p:nvSpPr>
        <p:spPr>
          <a:xfrm>
            <a:off x="4904284" y="2632472"/>
            <a:ext cx="6401003"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1. Compila y ejecuta todos los tests; falla si la cobertura baja del 88 %.</a:t>
            </a:r>
            <a:endParaRPr lang="en-US" sz="1500" dirty="0"/>
          </a:p>
        </p:txBody>
      </p:sp>
      <p:sp>
        <p:nvSpPr>
          <p:cNvPr id="10" name="Text 8"/>
          <p:cNvSpPr/>
          <p:nvPr/>
        </p:nvSpPr>
        <p:spPr>
          <a:xfrm>
            <a:off x="4904284" y="3026172"/>
            <a:ext cx="640100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2. Análisis estático: SpotBugs con FindSecBugs, PMD y código duplicado (CPD) sin avisos bloqueantes.</a:t>
            </a:r>
            <a:endParaRPr lang="en-US" sz="1500" dirty="0"/>
          </a:p>
        </p:txBody>
      </p:sp>
      <p:sp>
        <p:nvSpPr>
          <p:cNvPr id="11" name="Text 9"/>
          <p:cNvSpPr/>
          <p:nvPr/>
        </p:nvSpPr>
        <p:spPr>
          <a:xfrm>
            <a:off x="4904284" y="3686572"/>
            <a:ext cx="6401003"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3. CodeQL de GitHub, sin alertas.</a:t>
            </a:r>
            <a:endParaRPr lang="en-US" sz="1500" dirty="0"/>
          </a:p>
        </p:txBody>
      </p:sp>
      <p:sp>
        <p:nvSpPr>
          <p:cNvPr id="12" name="Text 10"/>
          <p:cNvSpPr/>
          <p:nvPr/>
        </p:nvSpPr>
        <p:spPr>
          <a:xfrm>
            <a:off x="4904284" y="4080272"/>
            <a:ext cx="640100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4. Imagen Docker con los límites de producción y prueba de carga: 5 subidas simultáneas de ~79 MB.</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SEGURIDAD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Auditado, atacado y corregido</a:t>
            </a:r>
            <a:endParaRPr lang="en-US" sz="3600" dirty="0"/>
          </a:p>
        </p:txBody>
      </p:sp>
      <p:sp>
        <p:nvSpPr>
          <p:cNvPr id="4" name="Shape 2"/>
          <p:cNvSpPr/>
          <p:nvPr/>
        </p:nvSpPr>
        <p:spPr>
          <a:xfrm>
            <a:off x="815975" y="1974056"/>
            <a:ext cx="3397250" cy="2837954"/>
          </a:xfrm>
          <a:prstGeom prst="roundRect">
            <a:avLst>
              <a:gd name="adj" fmla="val 3468"/>
            </a:avLst>
          </a:prstGeom>
          <a:solidFill>
            <a:srgbClr val="FFFFFF"/>
          </a:solidFill>
          <a:ln w="6350">
            <a:solidFill>
              <a:srgbClr val="DAD8CF"/>
            </a:solidFill>
            <a:prstDash val="solid"/>
          </a:ln>
        </p:spPr>
      </p:sp>
      <p:sp>
        <p:nvSpPr>
          <p:cNvPr id="5" name="Text 3"/>
          <p:cNvSpPr/>
          <p:nvPr/>
        </p:nvSpPr>
        <p:spPr>
          <a:xfrm>
            <a:off x="10477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Cómo se revisó</a:t>
            </a:r>
            <a:endParaRPr lang="en-US" sz="1700" dirty="0"/>
          </a:p>
        </p:txBody>
      </p:sp>
      <p:sp>
        <p:nvSpPr>
          <p:cNvPr id="6" name="Text 4"/>
          <p:cNvSpPr/>
          <p:nvPr/>
        </p:nvSpPr>
        <p:spPr>
          <a:xfrm>
            <a:off x="1047750" y="2553791"/>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Auditoría estática del código con Codex.</a:t>
            </a:r>
            <a:endParaRPr lang="en-US" sz="1300" dirty="0"/>
          </a:p>
        </p:txBody>
      </p:sp>
      <p:sp>
        <p:nvSpPr>
          <p:cNvPr id="7" name="Text 5"/>
          <p:cNvSpPr/>
          <p:nvPr/>
        </p:nvSpPr>
        <p:spPr>
          <a:xfrm>
            <a:off x="1047750" y="3104852"/>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Pentest local con PDF hostiles y ataques SSRF.</a:t>
            </a:r>
            <a:endParaRPr lang="en-US" sz="1300" dirty="0"/>
          </a:p>
        </p:txBody>
      </p:sp>
      <p:sp>
        <p:nvSpPr>
          <p:cNvPr id="8" name="Text 6"/>
          <p:cNvSpPr/>
          <p:nvPr/>
        </p:nvSpPr>
        <p:spPr>
          <a:xfrm>
            <a:off x="1047750" y="3655913"/>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Dependencias contrastadas con OSV.dev.</a:t>
            </a:r>
            <a:endParaRPr lang="en-US" sz="1300" dirty="0"/>
          </a:p>
        </p:txBody>
      </p:sp>
      <p:sp>
        <p:nvSpPr>
          <p:cNvPr id="9" name="Shape 7"/>
          <p:cNvSpPr/>
          <p:nvPr/>
        </p:nvSpPr>
        <p:spPr>
          <a:xfrm>
            <a:off x="4397375" y="1974056"/>
            <a:ext cx="3397250" cy="2837954"/>
          </a:xfrm>
          <a:prstGeom prst="roundRect">
            <a:avLst>
              <a:gd name="adj" fmla="val 3468"/>
            </a:avLst>
          </a:prstGeom>
          <a:solidFill>
            <a:srgbClr val="FFFFFF"/>
          </a:solidFill>
          <a:ln w="6350">
            <a:solidFill>
              <a:srgbClr val="DAD8CF"/>
            </a:solidFill>
            <a:prstDash val="solid"/>
          </a:ln>
        </p:spPr>
      </p:sp>
      <p:sp>
        <p:nvSpPr>
          <p:cNvPr id="10" name="Text 8"/>
          <p:cNvSpPr/>
          <p:nvPr/>
        </p:nvSpPr>
        <p:spPr>
          <a:xfrm>
            <a:off x="46291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Encontrado y corregido</a:t>
            </a:r>
            <a:endParaRPr lang="en-US" sz="1700" dirty="0"/>
          </a:p>
        </p:txBody>
      </p:sp>
      <p:sp>
        <p:nvSpPr>
          <p:cNvPr id="11" name="Text 9"/>
          <p:cNvSpPr/>
          <p:nvPr/>
        </p:nvSpPr>
        <p:spPr>
          <a:xfrm>
            <a:off x="4629150" y="2553791"/>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Un PDF de 510 KB que se descomprimía a 500 MB tumbaba el servicio.</a:t>
            </a:r>
            <a:endParaRPr lang="en-US" sz="1300" dirty="0"/>
          </a:p>
        </p:txBody>
      </p:sp>
      <p:sp>
        <p:nvSpPr>
          <p:cNvPr id="12" name="Text 10"/>
          <p:cNvSpPr/>
          <p:nvPr/>
        </p:nvSpPr>
        <p:spPr>
          <a:xfrm>
            <a:off x="4629150" y="3335933"/>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Un sello de tiempo falso podía dar por válida una firma con certificado caducado.</a:t>
            </a:r>
            <a:endParaRPr lang="en-US" sz="1300" dirty="0"/>
          </a:p>
        </p:txBody>
      </p:sp>
      <p:sp>
        <p:nvSpPr>
          <p:cNvPr id="13" name="Text 11"/>
          <p:cNvSpPr/>
          <p:nvPr/>
        </p:nvSpPr>
        <p:spPr>
          <a:xfrm>
            <a:off x="4629150" y="4118074"/>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Topes de recursos, revocación de toda la cadena y librerías parcheadas.</a:t>
            </a:r>
            <a:endParaRPr lang="en-US" sz="1300" dirty="0"/>
          </a:p>
        </p:txBody>
      </p:sp>
      <p:sp>
        <p:nvSpPr>
          <p:cNvPr id="14" name="Shape 12"/>
          <p:cNvSpPr/>
          <p:nvPr/>
        </p:nvSpPr>
        <p:spPr>
          <a:xfrm>
            <a:off x="7978775" y="1974056"/>
            <a:ext cx="3397250" cy="2837954"/>
          </a:xfrm>
          <a:prstGeom prst="roundRect">
            <a:avLst>
              <a:gd name="adj" fmla="val 3468"/>
            </a:avLst>
          </a:prstGeom>
          <a:solidFill>
            <a:srgbClr val="FFFFFF"/>
          </a:solidFill>
          <a:ln w="6350">
            <a:solidFill>
              <a:srgbClr val="DAD8CF"/>
            </a:solidFill>
            <a:prstDash val="solid"/>
          </a:ln>
        </p:spPr>
      </p:sp>
      <p:sp>
        <p:nvSpPr>
          <p:cNvPr id="15" name="Text 13"/>
          <p:cNvSpPr/>
          <p:nvPr/>
        </p:nvSpPr>
        <p:spPr>
          <a:xfrm>
            <a:off x="82105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Comprobado que resiste</a:t>
            </a:r>
            <a:endParaRPr lang="en-US" sz="1700" dirty="0"/>
          </a:p>
        </p:txBody>
      </p:sp>
      <p:sp>
        <p:nvSpPr>
          <p:cNvPr id="16" name="Text 14"/>
          <p:cNvSpPr/>
          <p:nvPr/>
        </p:nvSpPr>
        <p:spPr>
          <a:xfrm>
            <a:off x="8210550" y="2553791"/>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SSRF: los 7 destinos internos probados, bloqueados sin ninguna conexión.</a:t>
            </a:r>
            <a:endParaRPr lang="en-US" sz="1300" dirty="0"/>
          </a:p>
        </p:txBody>
      </p:sp>
      <p:sp>
        <p:nvSpPr>
          <p:cNvPr id="17" name="Text 15"/>
          <p:cNvSpPr/>
          <p:nvPr/>
        </p:nvSpPr>
        <p:spPr>
          <a:xfrm>
            <a:off x="8210550" y="3335933"/>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Errores sin trazas ni rutas internas; interfaz sin XSS.</a:t>
            </a:r>
            <a:endParaRPr lang="en-US" sz="1300" dirty="0"/>
          </a:p>
        </p:txBody>
      </p:sp>
      <p:sp>
        <p:nvSpPr>
          <p:cNvPr id="18" name="Text 16"/>
          <p:cNvSpPr/>
          <p:nvPr/>
        </p:nvSpPr>
        <p:spPr>
          <a:xfrm>
            <a:off x="8210550" y="3886994"/>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Límite de análisis simultáneos con 503 y recuperación.</a:t>
            </a:r>
            <a:endParaRPr lang="en-US" sz="1300" dirty="0"/>
          </a:p>
        </p:txBody>
      </p:sp>
      <p:sp>
        <p:nvSpPr>
          <p:cNvPr id="19" name="Text 17"/>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DESPLIEGUE</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Alojado en VPS</a:t>
            </a:r>
            <a:endParaRPr lang="en-US" sz="3600" dirty="0"/>
          </a:p>
        </p:txBody>
      </p:sp>
      <p:sp>
        <p:nvSpPr>
          <p:cNvPr id="4" name="Shape 2"/>
          <p:cNvSpPr/>
          <p:nvPr/>
        </p:nvSpPr>
        <p:spPr>
          <a:xfrm>
            <a:off x="815975" y="1974056"/>
            <a:ext cx="3380284" cy="2607270"/>
          </a:xfrm>
          <a:prstGeom prst="roundRect">
            <a:avLst>
              <a:gd name="adj" fmla="val 3775"/>
            </a:avLst>
          </a:prstGeom>
          <a:solidFill>
            <a:srgbClr val="FFFFFF"/>
          </a:solidFill>
          <a:ln w="6350">
            <a:solidFill>
              <a:srgbClr val="DAD8CF"/>
            </a:solidFill>
            <a:prstDash val="solid"/>
          </a:ln>
        </p:spPr>
      </p:sp>
      <p:sp>
        <p:nvSpPr>
          <p:cNvPr id="5" name="Text 3"/>
          <p:cNvSpPr/>
          <p:nvPr/>
        </p:nvSpPr>
        <p:spPr>
          <a:xfrm>
            <a:off x="1073150" y="2231231"/>
            <a:ext cx="2951912"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Contenedor endurecido</a:t>
            </a:r>
            <a:endParaRPr lang="en-US" sz="1900" dirty="0"/>
          </a:p>
        </p:txBody>
      </p:sp>
      <p:sp>
        <p:nvSpPr>
          <p:cNvPr id="6" name="Text 4"/>
          <p:cNvSpPr/>
          <p:nvPr/>
        </p:nvSpPr>
        <p:spPr>
          <a:xfrm>
            <a:off x="1073150" y="2622352"/>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Imagen multi-etapa, usuario no root, sistema de ficheros de solo lectura, sin capacidades extra.</a:t>
            </a:r>
            <a:endParaRPr lang="en-US" sz="1500" dirty="0"/>
          </a:p>
        </p:txBody>
      </p:sp>
      <p:sp>
        <p:nvSpPr>
          <p:cNvPr id="7" name="Text 5"/>
          <p:cNvSpPr/>
          <p:nvPr/>
        </p:nvSpPr>
        <p:spPr>
          <a:xfrm>
            <a:off x="1073150" y="3524052"/>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Límite de 2 GB y perfil de JVM con cada región de memoria acotada.</a:t>
            </a:r>
            <a:endParaRPr lang="en-US" sz="1500" dirty="0"/>
          </a:p>
        </p:txBody>
      </p:sp>
      <p:sp>
        <p:nvSpPr>
          <p:cNvPr id="8" name="Shape 6"/>
          <p:cNvSpPr/>
          <p:nvPr/>
        </p:nvSpPr>
        <p:spPr>
          <a:xfrm>
            <a:off x="4405809" y="1974056"/>
            <a:ext cx="3380383" cy="2607270"/>
          </a:xfrm>
          <a:prstGeom prst="roundRect">
            <a:avLst>
              <a:gd name="adj" fmla="val 3775"/>
            </a:avLst>
          </a:prstGeom>
          <a:solidFill>
            <a:srgbClr val="FFFFFF"/>
          </a:solidFill>
          <a:ln w="6350">
            <a:solidFill>
              <a:srgbClr val="DAD8CF"/>
            </a:solidFill>
            <a:prstDash val="solid"/>
          </a:ln>
        </p:spPr>
      </p:sp>
      <p:sp>
        <p:nvSpPr>
          <p:cNvPr id="9" name="Text 7"/>
          <p:cNvSpPr/>
          <p:nvPr/>
        </p:nvSpPr>
        <p:spPr>
          <a:xfrm>
            <a:off x="4662984" y="2231231"/>
            <a:ext cx="2952014"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Servidor</a:t>
            </a:r>
            <a:endParaRPr lang="en-US" sz="1900" dirty="0"/>
          </a:p>
        </p:txBody>
      </p:sp>
      <p:sp>
        <p:nvSpPr>
          <p:cNvPr id="10" name="Text 8"/>
          <p:cNvSpPr/>
          <p:nvPr/>
        </p:nvSpPr>
        <p:spPr>
          <a:xfrm>
            <a:off x="4662984" y="2622352"/>
            <a:ext cx="295201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OVHcloud VPS-1: 2 vCore, 4 GB, Ubuntu 24.04.</a:t>
            </a:r>
            <a:endParaRPr lang="en-US" sz="1500" dirty="0"/>
          </a:p>
        </p:txBody>
      </p:sp>
      <p:sp>
        <p:nvSpPr>
          <p:cNvPr id="11" name="Text 9"/>
          <p:cNvSpPr/>
          <p:nvPr/>
        </p:nvSpPr>
        <p:spPr>
          <a:xfrm>
            <a:off x="4662984" y="3257352"/>
            <a:ext cx="295201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SSH solo con clave y cortafuegos con los puertos 22, 80 y 443.</a:t>
            </a:r>
            <a:endParaRPr lang="en-US" sz="1500" dirty="0"/>
          </a:p>
        </p:txBody>
      </p:sp>
      <p:sp>
        <p:nvSpPr>
          <p:cNvPr id="12" name="Shape 10"/>
          <p:cNvSpPr/>
          <p:nvPr/>
        </p:nvSpPr>
        <p:spPr>
          <a:xfrm>
            <a:off x="7995741" y="1974056"/>
            <a:ext cx="3380284" cy="2607270"/>
          </a:xfrm>
          <a:prstGeom prst="roundRect">
            <a:avLst>
              <a:gd name="adj" fmla="val 3775"/>
            </a:avLst>
          </a:prstGeom>
          <a:solidFill>
            <a:srgbClr val="FFFFFF"/>
          </a:solidFill>
          <a:ln w="6350">
            <a:solidFill>
              <a:srgbClr val="DAD8CF"/>
            </a:solidFill>
            <a:prstDash val="solid"/>
          </a:ln>
        </p:spPr>
      </p:sp>
      <p:sp>
        <p:nvSpPr>
          <p:cNvPr id="13" name="Text 11"/>
          <p:cNvSpPr/>
          <p:nvPr/>
        </p:nvSpPr>
        <p:spPr>
          <a:xfrm>
            <a:off x="8252916" y="2231231"/>
            <a:ext cx="2951912"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HTTPS</a:t>
            </a:r>
            <a:endParaRPr lang="en-US" sz="1900" dirty="0"/>
          </a:p>
        </p:txBody>
      </p:sp>
      <p:sp>
        <p:nvSpPr>
          <p:cNvPr id="14" name="Text 12"/>
          <p:cNvSpPr/>
          <p:nvPr/>
        </p:nvSpPr>
        <p:spPr>
          <a:xfrm>
            <a:off x="8252916" y="2622352"/>
            <a:ext cx="2951912"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Proxy Caddy con certificado de Let's Encrypt renovado automáticamente y cabecera HSTS.</a:t>
            </a:r>
            <a:endParaRPr lang="en-US" sz="1500" dirty="0"/>
          </a:p>
        </p:txBody>
      </p:sp>
      <p:sp>
        <p:nvSpPr>
          <p:cNvPr id="15" name="Text 13"/>
          <p:cNvSpPr/>
          <p:nvPr/>
        </p:nvSpPr>
        <p:spPr>
          <a:xfrm>
            <a:off x="8252916" y="3790752"/>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aplicación solo escucha en el bucle local.</a:t>
            </a:r>
            <a:endParaRPr lang="en-US" sz="1500" dirty="0"/>
          </a:p>
        </p:txBody>
      </p:sp>
      <p:sp>
        <p:nvSpPr>
          <p:cNvPr id="16" name="Text 14"/>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MEDIDAS REALES</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PDFs de hasta 80 MB, medidos en el servidor</a:t>
            </a:r>
            <a:endParaRPr lang="en-US" sz="3600" dirty="0"/>
          </a:p>
        </p:txBody>
      </p:sp>
      <p:sp>
        <p:nvSpPr>
          <p:cNvPr id="4" name="Shape 2"/>
          <p:cNvSpPr/>
          <p:nvPr/>
        </p:nvSpPr>
        <p:spPr>
          <a:xfrm>
            <a:off x="815975" y="1974056"/>
            <a:ext cx="3380284" cy="1812131"/>
          </a:xfrm>
          <a:prstGeom prst="roundRect">
            <a:avLst>
              <a:gd name="adj" fmla="val 5431"/>
            </a:avLst>
          </a:prstGeom>
          <a:solidFill>
            <a:srgbClr val="1E2F55"/>
          </a:solidFill>
          <a:ln w="6350">
            <a:solidFill>
              <a:srgbClr val="3A4C78"/>
            </a:solidFill>
            <a:prstDash val="solid"/>
          </a:ln>
        </p:spPr>
      </p:sp>
      <p:sp>
        <p:nvSpPr>
          <p:cNvPr id="5" name="Text 3"/>
          <p:cNvSpPr/>
          <p:nvPr/>
        </p:nvSpPr>
        <p:spPr>
          <a:xfrm>
            <a:off x="1073150" y="2231231"/>
            <a:ext cx="2951912"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5 de 5</a:t>
            </a:r>
            <a:endParaRPr lang="en-US" sz="5500" dirty="0"/>
          </a:p>
        </p:txBody>
      </p:sp>
      <p:sp>
        <p:nvSpPr>
          <p:cNvPr id="6" name="Text 4"/>
          <p:cNvSpPr/>
          <p:nvPr/>
        </p:nvSpPr>
        <p:spPr>
          <a:xfrm>
            <a:off x="1073150" y="2980531"/>
            <a:ext cx="2951912"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subidas simultáneas de 83 MB respondidas con éxito.</a:t>
            </a:r>
            <a:endParaRPr lang="en-US" sz="1600" dirty="0"/>
          </a:p>
        </p:txBody>
      </p:sp>
      <p:sp>
        <p:nvSpPr>
          <p:cNvPr id="7" name="Shape 5"/>
          <p:cNvSpPr/>
          <p:nvPr/>
        </p:nvSpPr>
        <p:spPr>
          <a:xfrm>
            <a:off x="4405809" y="1974056"/>
            <a:ext cx="3380383" cy="1812131"/>
          </a:xfrm>
          <a:prstGeom prst="roundRect">
            <a:avLst>
              <a:gd name="adj" fmla="val 5431"/>
            </a:avLst>
          </a:prstGeom>
          <a:solidFill>
            <a:srgbClr val="1E2F55"/>
          </a:solidFill>
          <a:ln w="6350">
            <a:solidFill>
              <a:srgbClr val="3A4C78"/>
            </a:solidFill>
            <a:prstDash val="solid"/>
          </a:ln>
        </p:spPr>
      </p:sp>
      <p:sp>
        <p:nvSpPr>
          <p:cNvPr id="8" name="Text 6"/>
          <p:cNvSpPr/>
          <p:nvPr/>
        </p:nvSpPr>
        <p:spPr>
          <a:xfrm>
            <a:off x="4662984" y="2231231"/>
            <a:ext cx="2952014"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1013</a:t>
            </a:r>
            <a:endParaRPr lang="en-US" sz="5500" dirty="0"/>
          </a:p>
        </p:txBody>
      </p:sp>
      <p:sp>
        <p:nvSpPr>
          <p:cNvPr id="9" name="Text 7"/>
          <p:cNvSpPr/>
          <p:nvPr/>
        </p:nvSpPr>
        <p:spPr>
          <a:xfrm>
            <a:off x="4662984" y="2980531"/>
            <a:ext cx="2952014"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MiB de memoria máxima, sobre un límite de 2048.</a:t>
            </a:r>
            <a:endParaRPr lang="en-US" sz="1600" dirty="0"/>
          </a:p>
        </p:txBody>
      </p:sp>
      <p:sp>
        <p:nvSpPr>
          <p:cNvPr id="10" name="Shape 8"/>
          <p:cNvSpPr/>
          <p:nvPr/>
        </p:nvSpPr>
        <p:spPr>
          <a:xfrm>
            <a:off x="7995741" y="1974056"/>
            <a:ext cx="3380284" cy="1812131"/>
          </a:xfrm>
          <a:prstGeom prst="roundRect">
            <a:avLst>
              <a:gd name="adj" fmla="val 5431"/>
            </a:avLst>
          </a:prstGeom>
          <a:solidFill>
            <a:srgbClr val="1E2F55"/>
          </a:solidFill>
          <a:ln w="6350">
            <a:solidFill>
              <a:srgbClr val="3A4C78"/>
            </a:solidFill>
            <a:prstDash val="solid"/>
          </a:ln>
        </p:spPr>
      </p:sp>
      <p:sp>
        <p:nvSpPr>
          <p:cNvPr id="11" name="Text 9"/>
          <p:cNvSpPr/>
          <p:nvPr/>
        </p:nvSpPr>
        <p:spPr>
          <a:xfrm>
            <a:off x="8252916" y="2231231"/>
            <a:ext cx="2951912"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0</a:t>
            </a:r>
            <a:endParaRPr lang="en-US" sz="5500" dirty="0"/>
          </a:p>
        </p:txBody>
      </p:sp>
      <p:sp>
        <p:nvSpPr>
          <p:cNvPr id="12" name="Text 10"/>
          <p:cNvSpPr/>
          <p:nvPr/>
        </p:nvSpPr>
        <p:spPr>
          <a:xfrm>
            <a:off x="8252916" y="2980531"/>
            <a:ext cx="2951912"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reinicios, cortes por memoria y errores de memoria en la JVM.</a:t>
            </a:r>
            <a:endParaRPr lang="en-US" sz="1600" dirty="0"/>
          </a:p>
        </p:txBody>
      </p:sp>
      <p:sp>
        <p:nvSpPr>
          <p:cNvPr id="13" name="Text 11"/>
          <p:cNvSpPr/>
          <p:nvPr/>
        </p:nvSpPr>
        <p:spPr>
          <a:xfrm>
            <a:off x="812800" y="4094163"/>
            <a:ext cx="1046480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Un límite de dos análisis a la vez acota el consumo. Con un solo hueco y 5 s de espera, 3 de las 5 peticiones recibían un 503; con dos huecos y 30 s, ninguna.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ALCANCE Y LÍMITES</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Lo que hace y lo que queda fuera</a:t>
            </a:r>
            <a:endParaRPr lang="en-US" sz="3600" dirty="0"/>
          </a:p>
        </p:txBody>
      </p:sp>
      <p:sp>
        <p:nvSpPr>
          <p:cNvPr id="4" name="Shape 2"/>
          <p:cNvSpPr/>
          <p:nvPr/>
        </p:nvSpPr>
        <p:spPr>
          <a:xfrm>
            <a:off x="815975" y="1974056"/>
            <a:ext cx="5175250" cy="2990850"/>
          </a:xfrm>
          <a:prstGeom prst="roundRect">
            <a:avLst>
              <a:gd name="adj" fmla="val 3291"/>
            </a:avLst>
          </a:prstGeom>
          <a:solidFill>
            <a:srgbClr val="FFFFFF"/>
          </a:solidFill>
          <a:ln w="6350">
            <a:solidFill>
              <a:srgbClr val="DAD8CF"/>
            </a:solidFill>
            <a:prstDash val="solid"/>
          </a:ln>
        </p:spPr>
      </p:sp>
      <p:sp>
        <p:nvSpPr>
          <p:cNvPr id="5" name="Text 3"/>
          <p:cNvSpPr/>
          <p:nvPr/>
        </p:nvSpPr>
        <p:spPr>
          <a:xfrm>
            <a:off x="1073150" y="2231231"/>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Decisiones</a:t>
            </a:r>
            <a:endParaRPr lang="en-US" sz="2000" dirty="0"/>
          </a:p>
        </p:txBody>
      </p:sp>
      <p:sp>
        <p:nvSpPr>
          <p:cNvPr id="6" name="Text 4"/>
          <p:cNvSpPr/>
          <p:nvPr/>
        </p:nvSpPr>
        <p:spPr>
          <a:xfrm>
            <a:off x="1073150" y="263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Servicio sin estado: no guarda documentos ni datos de usuario.</a:t>
            </a:r>
            <a:endParaRPr lang="en-US" sz="1500" dirty="0"/>
          </a:p>
        </p:txBody>
      </p:sp>
      <p:sp>
        <p:nvSpPr>
          <p:cNvPr id="7" name="Text 5"/>
          <p:cNvSpPr/>
          <p:nvPr/>
        </p:nvSpPr>
        <p:spPr>
          <a:xfrm>
            <a:off x="1073150" y="3272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revocación solo se consulta para cadenas de confianza, con protección frente a SSRF.</a:t>
            </a:r>
            <a:endParaRPr lang="en-US" sz="1500" dirty="0"/>
          </a:p>
        </p:txBody>
      </p:sp>
      <p:sp>
        <p:nvSpPr>
          <p:cNvPr id="8" name="Text 6"/>
          <p:cNvSpPr/>
          <p:nvPr/>
        </p:nvSpPr>
        <p:spPr>
          <a:xfrm>
            <a:off x="1073150" y="3907631"/>
            <a:ext cx="480072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Anclas de confianza generadas de la Lista de Confianza oficial, con firma verificada y actualización semanal.</a:t>
            </a:r>
            <a:endParaRPr lang="en-US" sz="1500" dirty="0"/>
          </a:p>
        </p:txBody>
      </p:sp>
      <p:sp>
        <p:nvSpPr>
          <p:cNvPr id="9" name="Shape 7"/>
          <p:cNvSpPr/>
          <p:nvPr/>
        </p:nvSpPr>
        <p:spPr>
          <a:xfrm>
            <a:off x="6200775" y="1974056"/>
            <a:ext cx="5175250" cy="2990850"/>
          </a:xfrm>
          <a:prstGeom prst="roundRect">
            <a:avLst>
              <a:gd name="adj" fmla="val 3291"/>
            </a:avLst>
          </a:prstGeom>
          <a:solidFill>
            <a:srgbClr val="FFFFFF"/>
          </a:solidFill>
          <a:ln w="6350">
            <a:solidFill>
              <a:srgbClr val="DAD8CF"/>
            </a:solidFill>
            <a:prstDash val="solid"/>
          </a:ln>
        </p:spPr>
      </p:sp>
      <p:sp>
        <p:nvSpPr>
          <p:cNvPr id="10" name="Text 8"/>
          <p:cNvSpPr/>
          <p:nvPr/>
        </p:nvSpPr>
        <p:spPr>
          <a:xfrm>
            <a:off x="6457950" y="2231231"/>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Límites conocidos</a:t>
            </a:r>
            <a:endParaRPr lang="en-US" sz="2000" dirty="0"/>
          </a:p>
        </p:txBody>
      </p:sp>
      <p:sp>
        <p:nvSpPr>
          <p:cNvPr id="11" name="Text 9"/>
          <p:cNvSpPr/>
          <p:nvPr/>
        </p:nvSpPr>
        <p:spPr>
          <a:xfrm>
            <a:off x="6457950" y="263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Sin login: cualquiera con la URL puede usarlo, no es para documentos confidenciales.</a:t>
            </a:r>
            <a:endParaRPr lang="en-US" sz="1500" dirty="0"/>
          </a:p>
        </p:txBody>
      </p:sp>
      <p:sp>
        <p:nvSpPr>
          <p:cNvPr id="12" name="Text 10"/>
          <p:cNvSpPr/>
          <p:nvPr/>
        </p:nvSpPr>
        <p:spPr>
          <a:xfrm>
            <a:off x="6457950" y="3272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Conformidad PDF/A-1b; otros perfiles no están cubiertos.</a:t>
            </a:r>
            <a:endParaRPr lang="en-US" sz="1500" dirty="0"/>
          </a:p>
        </p:txBody>
      </p:sp>
      <p:sp>
        <p:nvSpPr>
          <p:cNvPr id="13" name="Text 11"/>
          <p:cNvSpPr/>
          <p:nvPr/>
        </p:nvSpPr>
        <p:spPr>
          <a:xfrm>
            <a:off x="6457950" y="390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Solo confía en CA españolas: las de otros países de la UE salen como no admitidas.</a:t>
            </a:r>
            <a:endParaRPr lang="en-US" sz="1500" dirty="0"/>
          </a:p>
        </p:txBody>
      </p:sp>
      <p:sp>
        <p:nvSpPr>
          <p:cNvPr id="14" name="Text 1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90758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spc="200" kern="0" dirty="0">
                <a:solidFill>
                  <a:srgbClr val="6CC5B5"/>
                </a:solidFill>
                <a:latin typeface="IBM Plex Sans" pitchFamily="34" charset="0"/>
                <a:ea typeface="IBM Plex Sans" pitchFamily="34" charset="-122"/>
                <a:cs typeface="IBM Plex Sans" pitchFamily="34" charset="-120"/>
              </a:rPr>
              <a:t>DEMOSTRACIÓN</a:t>
            </a:r>
            <a:endParaRPr lang="en-US" sz="1500" dirty="0"/>
          </a:p>
        </p:txBody>
      </p:sp>
      <p:sp>
        <p:nvSpPr>
          <p:cNvPr id="3" name="Text 1"/>
          <p:cNvSpPr/>
          <p:nvPr>
            <p:ph type="title"/>
          </p:nvPr>
        </p:nvSpPr>
        <p:spPr>
          <a:xfrm>
            <a:off x="812800" y="2453680"/>
            <a:ext cx="10883392" cy="718741"/>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6F5F0"/>
                </a:solidFill>
                <a:latin typeface="Source Serif 4" pitchFamily="18" charset="0"/>
                <a:ea typeface="Source Serif 4" pitchFamily="18" charset="-122"/>
                <a:cs typeface="Source Serif 4" pitchFamily="18" charset="-120"/>
              </a:rPr>
              <a:t>Pruébalo con tu propio PDF</a:t>
            </a:r>
            <a:endParaRPr lang="en-US" sz="5200" dirty="0"/>
          </a:p>
        </p:txBody>
      </p:sp>
      <p:sp>
        <p:nvSpPr>
          <p:cNvPr id="4" name="Text 2"/>
          <p:cNvSpPr/>
          <p:nvPr/>
        </p:nvSpPr>
        <p:spPr>
          <a:xfrm>
            <a:off x="812800" y="3426420"/>
            <a:ext cx="10883392" cy="421580"/>
          </a:xfrm>
          <a:prstGeom prst="rect">
            <a:avLst/>
          </a:prstGeom>
          <a:noFill/>
          <a:ln/>
        </p:spPr>
        <p:txBody>
          <a:bodyPr wrap="square" lIns="0" tIns="0" rIns="0" bIns="0" rtlCol="0" anchor="t">
            <a:normAutofit/>
          </a:bodyPr>
          <a:lstStyle/>
          <a:p>
            <a:pPr algn="l" indent="0" marL="0">
              <a:lnSpc>
                <a:spcPts val="3120"/>
              </a:lnSpc>
              <a:buNone/>
            </a:pPr>
            <a:r>
              <a:rPr lang="en-US" sz="2400" dirty="0">
                <a:solidFill>
                  <a:srgbClr val="F6F5F0"/>
                </a:solidFill>
                <a:latin typeface="IBM Plex Sans" pitchFamily="34" charset="0"/>
                <a:ea typeface="IBM Plex Sans" pitchFamily="34" charset="-122"/>
                <a:cs typeface="IBM Plex Sans" pitchFamily="34" charset="-120"/>
              </a:rPr>
              <a:t>https://vps-651608c6.vps.ovh.net/</a:t>
            </a:r>
            <a:endParaRPr lang="en-US" sz="2400" dirty="0"/>
          </a:p>
        </p:txBody>
      </p:sp>
      <p:sp>
        <p:nvSpPr>
          <p:cNvPr id="5" name="Text 3"/>
          <p:cNvSpPr/>
          <p:nvPr/>
        </p:nvSpPr>
        <p:spPr>
          <a:xfrm>
            <a:off x="812800" y="410200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Código: https://github.com/avalinani/verificador</a:t>
            </a:r>
            <a:endParaRPr lang="en-US" sz="1600" dirty="0"/>
          </a:p>
        </p:txBody>
      </p:sp>
      <p:sp>
        <p:nvSpPr>
          <p:cNvPr id="6" name="Text 4"/>
          <p:cNvSpPr/>
          <p:nvPr/>
        </p:nvSpPr>
        <p:spPr>
          <a:xfrm>
            <a:off x="812800" y="44626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Licencia GNU GPL v3.0</a:t>
            </a:r>
            <a:endParaRPr lang="en-US" sz="1600" dirty="0"/>
          </a:p>
        </p:txBody>
      </p:sp>
    </p:spTree>
  </p:cSld>
  <p:clrMapOvr>
    <a:masterClrMapping/>
  </p:clrMapOvr>
</p:sld>
</file>

<file path=ppt/theme/theme1.xml><?xml version="1.0" encoding="utf-8"?>
<a:theme xmlns:a="http://schemas.openxmlformats.org/drawingml/2006/main" name="PDF Inspector - TFM">
  <a:themeElements>
    <a:clrScheme name="PDF Inspector - TFM">
      <a:dk1>
        <a:srgbClr val="14213D"/>
      </a:dk1>
      <a:lt1>
        <a:srgbClr val="F6F5F0"/>
      </a:lt1>
      <a:dk2>
        <a:srgbClr val="4D566A"/>
      </a:dk2>
      <a:lt2>
        <a:srgbClr val="DFE0DE"/>
      </a:lt2>
      <a:accent1>
        <a:srgbClr val="6CC5B5"/>
      </a:accent1>
      <a:accent2>
        <a:srgbClr val="1F7A6D"/>
      </a:accent2>
      <a:accent3>
        <a:srgbClr val="8EA0C4"/>
      </a:accent3>
      <a:accent4>
        <a:srgbClr val="4A5568"/>
      </a:accent4>
      <a:accent5>
        <a:srgbClr val="C9D1E3"/>
      </a:accent5>
      <a:accent6>
        <a:srgbClr val="5B6478"/>
      </a:accent6>
      <a:hlink>
        <a:srgbClr val="0563C1"/>
      </a:hlink>
      <a:folHlink>
        <a:srgbClr val="954F72"/>
      </a:folHlink>
    </a:clrScheme>
    <a:fontScheme name="PDF Inspector - TFM">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PDF Inspector - TFM</dc:title>
  <dc:subject/>
  <dc:creator/>
  <cp:lastModifiedBy/>
  <cp:revision>1</cp:revision>
  <dcterms:created xsi:type="dcterms:W3CDTF">2026-10-02T12:40:12Z</dcterms:created>
  <dcterms:modified xsi:type="dcterms:W3CDTF">2026-10-02T12:40:12Z</dcterms:modified>
</cp:coreProperties>
</file>